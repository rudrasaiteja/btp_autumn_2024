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C9489A-8DC2-BDEC-B062-8B18199B0654}" v="36" dt="2024-10-08T05:06:44.061"/>
    <p1510:client id="{6CB7E2C7-FA66-D985-33BD-D3B0A05279E8}" v="2426" dt="2024-10-08T09:09:17.382"/>
    <p1510:client id="{CC5DC3D9-26F6-649B-A9F9-000218BCFF43}" v="15" dt="2024-10-07T15:02:23.3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MIX DESIGN OF CONCRETE</a:t>
            </a:r>
          </a:p>
        </p:txBody>
      </p:sp>
      <p:sp>
        <p:nvSpPr>
          <p:cNvPr id="3" name="Subtitle 2"/>
          <p:cNvSpPr>
            <a:spLocks noGrp="1"/>
          </p:cNvSpPr>
          <p:nvPr>
            <p:ph type="subTitle" idx="1"/>
          </p:nvPr>
        </p:nvSpPr>
        <p:spPr/>
        <p:txBody>
          <a:bodyPr vert="horz" lIns="91440" tIns="45720" rIns="91440" bIns="45720" rtlCol="0" anchor="t">
            <a:normAutofit/>
          </a:bodyPr>
          <a:lstStyle/>
          <a:p>
            <a:r>
              <a:rPr lang="en-US" i="1" dirty="0">
                <a:latin typeface="Segoe UI"/>
                <a:cs typeface="Segoe UI"/>
              </a:rPr>
              <a:t>Presenter: Rudra Sai Teja(21CE31010)</a:t>
            </a:r>
            <a:endParaRPr lang="en-US" dirty="0">
              <a:latin typeface="Segoe UI"/>
              <a:cs typeface="Segoe UI"/>
            </a:endParaRPr>
          </a:p>
          <a:p>
            <a:r>
              <a:rPr lang="en-US" i="1" dirty="0">
                <a:latin typeface="Segoe UI"/>
                <a:cs typeface="Segoe UI"/>
              </a:rPr>
              <a:t>Supervisor: Prof. Damodar Maity</a:t>
            </a:r>
            <a:endParaRPr lang="en-US" dirty="0">
              <a:latin typeface="Segoe UI"/>
              <a:cs typeface="Segoe UI"/>
            </a:endParaRPr>
          </a:p>
          <a:p>
            <a:r>
              <a:rPr lang="en-US" i="1" dirty="0">
                <a:latin typeface="Segoe UI"/>
                <a:cs typeface="Segoe UI"/>
              </a:rPr>
              <a:t>Department of Civil Engineering, IIT Kharagpur</a:t>
            </a:r>
            <a:endParaRPr lang="en-US" dirty="0">
              <a:latin typeface="Segoe UI"/>
              <a:cs typeface="Segoe UI"/>
            </a:endParaRPr>
          </a:p>
          <a:p>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A08CD-8CC3-BABC-0ACE-C0CF150746EA}"/>
              </a:ext>
            </a:extLst>
          </p:cNvPr>
          <p:cNvSpPr>
            <a:spLocks noGrp="1"/>
          </p:cNvSpPr>
          <p:nvPr>
            <p:ph type="title"/>
          </p:nvPr>
        </p:nvSpPr>
        <p:spPr/>
        <p:txBody>
          <a:bodyPr/>
          <a:lstStyle/>
          <a:p>
            <a:r>
              <a:rPr lang="en-US" dirty="0"/>
              <a:t>Concrete Mix Design</a:t>
            </a:r>
          </a:p>
        </p:txBody>
      </p:sp>
      <p:sp>
        <p:nvSpPr>
          <p:cNvPr id="3" name="Content Placeholder 2">
            <a:extLst>
              <a:ext uri="{FF2B5EF4-FFF2-40B4-BE49-F238E27FC236}">
                <a16:creationId xmlns:a16="http://schemas.microsoft.com/office/drawing/2014/main" id="{5E26C9B5-FE50-5C2E-F44A-36594E6481B1}"/>
              </a:ext>
            </a:extLst>
          </p:cNvPr>
          <p:cNvSpPr>
            <a:spLocks noGrp="1"/>
          </p:cNvSpPr>
          <p:nvPr>
            <p:ph idx="1"/>
          </p:nvPr>
        </p:nvSpPr>
        <p:spPr/>
        <p:txBody>
          <a:bodyPr vert="horz" lIns="91440" tIns="45720" rIns="91440" bIns="45720" rtlCol="0" anchor="t">
            <a:normAutofit/>
          </a:bodyPr>
          <a:lstStyle/>
          <a:p>
            <a:r>
              <a:rPr lang="en-US" dirty="0"/>
              <a:t>Concrete mix design can be defined as the selection of appropriate ingredients in right  proportions with the objective of </a:t>
            </a:r>
            <a:r>
              <a:rPr lang="en-US"/>
              <a:t>achieving concrete with certain strength and durability as economically as possible.</a:t>
            </a:r>
          </a:p>
          <a:p>
            <a:pPr algn="just"/>
            <a:r>
              <a:rPr lang="en-US">
                <a:ea typeface="+mn-lt"/>
                <a:cs typeface="+mn-lt"/>
              </a:rPr>
              <a:t>To achieve the designed/ desired workability in the plastic stage</a:t>
            </a:r>
            <a:endParaRPr lang="en-US" dirty="0"/>
          </a:p>
          <a:p>
            <a:pPr algn="just"/>
            <a:r>
              <a:rPr lang="en-US">
                <a:ea typeface="+mn-lt"/>
                <a:cs typeface="+mn-lt"/>
              </a:rPr>
              <a:t>To achieve the desired minimum strength in the hardened stage</a:t>
            </a:r>
            <a:endParaRPr lang="en-US"/>
          </a:p>
          <a:p>
            <a:pPr algn="just"/>
            <a:r>
              <a:rPr lang="en-US">
                <a:latin typeface="Aptos"/>
                <a:cs typeface="Arial"/>
              </a:rPr>
              <a:t>To</a:t>
            </a:r>
            <a:r>
              <a:rPr lang="en-US" dirty="0">
                <a:ea typeface="+mn-lt"/>
                <a:cs typeface="+mn-lt"/>
              </a:rPr>
              <a:t> achieve the desired durability in the given environment conditions</a:t>
            </a:r>
            <a:endParaRPr lang="en-US" dirty="0"/>
          </a:p>
          <a:p>
            <a:endParaRPr lang="en-US" dirty="0"/>
          </a:p>
        </p:txBody>
      </p:sp>
    </p:spTree>
    <p:extLst>
      <p:ext uri="{BB962C8B-B14F-4D97-AF65-F5344CB8AC3E}">
        <p14:creationId xmlns:p14="http://schemas.microsoft.com/office/powerpoint/2010/main" val="1958185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805A-5404-B3A4-F453-A1FEE027F116}"/>
              </a:ext>
            </a:extLst>
          </p:cNvPr>
          <p:cNvSpPr>
            <a:spLocks noGrp="1"/>
          </p:cNvSpPr>
          <p:nvPr>
            <p:ph type="title"/>
          </p:nvPr>
        </p:nvSpPr>
        <p:spPr/>
        <p:txBody>
          <a:bodyPr/>
          <a:lstStyle/>
          <a:p>
            <a:r>
              <a:rPr lang="en-US" dirty="0"/>
              <a:t>Concrete Mis Design</a:t>
            </a:r>
          </a:p>
        </p:txBody>
      </p:sp>
      <p:sp>
        <p:nvSpPr>
          <p:cNvPr id="3" name="Content Placeholder 2">
            <a:extLst>
              <a:ext uri="{FF2B5EF4-FFF2-40B4-BE49-F238E27FC236}">
                <a16:creationId xmlns:a16="http://schemas.microsoft.com/office/drawing/2014/main" id="{1B748F98-3AF8-C29D-7150-66EFBDC7F0EE}"/>
              </a:ext>
            </a:extLst>
          </p:cNvPr>
          <p:cNvSpPr>
            <a:spLocks noGrp="1"/>
          </p:cNvSpPr>
          <p:nvPr>
            <p:ph idx="1"/>
          </p:nvPr>
        </p:nvSpPr>
        <p:spPr/>
        <p:txBody>
          <a:bodyPr vert="horz" lIns="91440" tIns="45720" rIns="91440" bIns="45720" rtlCol="0" anchor="t">
            <a:normAutofit lnSpcReduction="10000"/>
          </a:bodyPr>
          <a:lstStyle/>
          <a:p>
            <a:r>
              <a:rPr lang="en-US"/>
              <a:t>Some aspects to be kept in mind are</a:t>
            </a:r>
          </a:p>
          <a:p>
            <a:r>
              <a:rPr lang="en-US" dirty="0"/>
              <a:t>Cost</a:t>
            </a:r>
          </a:p>
          <a:p>
            <a:r>
              <a:rPr lang="en-US"/>
              <a:t>Specifications of the concrete</a:t>
            </a:r>
          </a:p>
          <a:p>
            <a:r>
              <a:rPr lang="en-US"/>
              <a:t>Workability</a:t>
            </a:r>
            <a:endParaRPr lang="en-US" dirty="0"/>
          </a:p>
          <a:p>
            <a:r>
              <a:rPr lang="en-US" dirty="0"/>
              <a:t>Strength and Durability</a:t>
            </a:r>
          </a:p>
          <a:p>
            <a:pPr algn="just"/>
            <a:r>
              <a:rPr lang="en-US" dirty="0">
                <a:ea typeface="+mn-lt"/>
                <a:cs typeface="+mn-lt"/>
              </a:rPr>
              <a:t>Minimum Compressive Strength required</a:t>
            </a:r>
            <a:endParaRPr lang="en-US" dirty="0"/>
          </a:p>
          <a:p>
            <a:pPr algn="just"/>
            <a:r>
              <a:rPr lang="en-US" dirty="0">
                <a:ea typeface="+mn-lt"/>
                <a:cs typeface="+mn-lt"/>
              </a:rPr>
              <a:t>Minimum water/ cement ratio</a:t>
            </a:r>
            <a:endParaRPr lang="en-US" dirty="0"/>
          </a:p>
          <a:p>
            <a:pPr algn="just"/>
            <a:r>
              <a:rPr lang="en-US" dirty="0">
                <a:ea typeface="+mn-lt"/>
                <a:cs typeface="+mn-lt"/>
              </a:rPr>
              <a:t>Maximum cement content to avoid shrinkage cracks</a:t>
            </a:r>
            <a:endParaRPr lang="en-US" dirty="0"/>
          </a:p>
          <a:p>
            <a:pPr algn="just"/>
            <a:r>
              <a:rPr lang="en-US" dirty="0">
                <a:ea typeface="+mn-lt"/>
                <a:cs typeface="+mn-lt"/>
              </a:rPr>
              <a:t>Maximum aggregate / cement ratio</a:t>
            </a:r>
            <a:endParaRPr lang="en-US" dirty="0"/>
          </a:p>
          <a:p>
            <a:endParaRPr lang="en-US" dirty="0"/>
          </a:p>
        </p:txBody>
      </p:sp>
    </p:spTree>
    <p:extLst>
      <p:ext uri="{BB962C8B-B14F-4D97-AF65-F5344CB8AC3E}">
        <p14:creationId xmlns:p14="http://schemas.microsoft.com/office/powerpoint/2010/main" val="4153678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0AF582-291D-F6FB-834B-C8570301D79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Grades of Concrete</a:t>
            </a:r>
          </a:p>
        </p:txBody>
      </p:sp>
      <p:pic>
        <p:nvPicPr>
          <p:cNvPr id="4" name="Content Placeholder 3" descr="A table with text on it&#10;&#10;Description automatically generated">
            <a:extLst>
              <a:ext uri="{FF2B5EF4-FFF2-40B4-BE49-F238E27FC236}">
                <a16:creationId xmlns:a16="http://schemas.microsoft.com/office/drawing/2014/main" id="{2E6E6D45-CFBB-DB0A-D91E-9E029FB1C711}"/>
              </a:ext>
            </a:extLst>
          </p:cNvPr>
          <p:cNvPicPr>
            <a:picLocks noGrp="1" noChangeAspect="1"/>
          </p:cNvPicPr>
          <p:nvPr>
            <p:ph idx="1"/>
          </p:nvPr>
        </p:nvPicPr>
        <p:blipFill>
          <a:blip r:embed="rId2"/>
          <a:stretch>
            <a:fillRect/>
          </a:stretch>
        </p:blipFill>
        <p:spPr>
          <a:xfrm>
            <a:off x="1494744" y="1675227"/>
            <a:ext cx="9202511" cy="4394199"/>
          </a:xfrm>
          <a:prstGeom prst="rect">
            <a:avLst/>
          </a:prstGeom>
        </p:spPr>
      </p:pic>
    </p:spTree>
    <p:extLst>
      <p:ext uri="{BB962C8B-B14F-4D97-AF65-F5344CB8AC3E}">
        <p14:creationId xmlns:p14="http://schemas.microsoft.com/office/powerpoint/2010/main" val="1432760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32E23-4371-15F6-CAC2-70BCF310E6C7}"/>
              </a:ext>
            </a:extLst>
          </p:cNvPr>
          <p:cNvSpPr>
            <a:spLocks noGrp="1"/>
          </p:cNvSpPr>
          <p:nvPr>
            <p:ph type="title"/>
          </p:nvPr>
        </p:nvSpPr>
        <p:spPr/>
        <p:txBody>
          <a:bodyPr/>
          <a:lstStyle/>
          <a:p>
            <a:r>
              <a:rPr lang="en-US" dirty="0"/>
              <a:t>M 20 Concrete</a:t>
            </a:r>
          </a:p>
        </p:txBody>
      </p:sp>
      <p:sp>
        <p:nvSpPr>
          <p:cNvPr id="3" name="Content Placeholder 2">
            <a:extLst>
              <a:ext uri="{FF2B5EF4-FFF2-40B4-BE49-F238E27FC236}">
                <a16:creationId xmlns:a16="http://schemas.microsoft.com/office/drawing/2014/main" id="{019FEFE4-27DE-46B8-E9C8-865D37AC440C}"/>
              </a:ext>
            </a:extLst>
          </p:cNvPr>
          <p:cNvSpPr>
            <a:spLocks noGrp="1"/>
          </p:cNvSpPr>
          <p:nvPr>
            <p:ph idx="1"/>
          </p:nvPr>
        </p:nvSpPr>
        <p:spPr/>
        <p:txBody>
          <a:bodyPr vert="horz" lIns="91440" tIns="45720" rIns="91440" bIns="45720" rtlCol="0" anchor="t">
            <a:normAutofit/>
          </a:bodyPr>
          <a:lstStyle/>
          <a:p>
            <a:r>
              <a:rPr lang="en-US" sz="3200"/>
              <a:t>In this M stands for Mix</a:t>
            </a:r>
          </a:p>
          <a:p>
            <a:r>
              <a:rPr lang="en-US" sz="3200" dirty="0">
                <a:ea typeface="+mn-lt"/>
                <a:cs typeface="+mn-lt"/>
              </a:rPr>
              <a:t>20 refers to characteristic compressive strength of 150 mm cube at 28 days in N/mm</a:t>
            </a:r>
            <a:r>
              <a:rPr lang="en-US" sz="3200" baseline="30000" dirty="0">
                <a:ea typeface="+mn-lt"/>
                <a:cs typeface="+mn-lt"/>
              </a:rPr>
              <a:t>2</a:t>
            </a:r>
            <a:endParaRPr lang="en-US" dirty="0"/>
          </a:p>
          <a:p>
            <a:pPr algn="just"/>
            <a:r>
              <a:rPr lang="en-US" sz="3200" dirty="0">
                <a:ea typeface="+mn-lt"/>
                <a:cs typeface="+mn-lt"/>
              </a:rPr>
              <a:t>The minimum Grade of Plain Concrete (PCC) shall be 15 N/mm</a:t>
            </a:r>
            <a:r>
              <a:rPr lang="en-US" sz="3200" baseline="30000" dirty="0">
                <a:ea typeface="+mn-lt"/>
                <a:cs typeface="+mn-lt"/>
              </a:rPr>
              <a:t>2</a:t>
            </a:r>
            <a:endParaRPr lang="en-US" dirty="0"/>
          </a:p>
          <a:p>
            <a:pPr algn="just"/>
            <a:r>
              <a:rPr lang="en-US" sz="3200" dirty="0">
                <a:ea typeface="+mn-lt"/>
                <a:cs typeface="+mn-lt"/>
              </a:rPr>
              <a:t>The minimum grade of reinforced Concrete ( RCC) shall be 20 N/mm</a:t>
            </a:r>
            <a:r>
              <a:rPr lang="en-US" sz="3200" baseline="30000" dirty="0">
                <a:ea typeface="+mn-lt"/>
                <a:cs typeface="+mn-lt"/>
              </a:rPr>
              <a:t>2</a:t>
            </a:r>
            <a:endParaRPr lang="en-US" dirty="0"/>
          </a:p>
          <a:p>
            <a:endParaRPr lang="en-US" dirty="0"/>
          </a:p>
        </p:txBody>
      </p:sp>
    </p:spTree>
    <p:extLst>
      <p:ext uri="{BB962C8B-B14F-4D97-AF65-F5344CB8AC3E}">
        <p14:creationId xmlns:p14="http://schemas.microsoft.com/office/powerpoint/2010/main" val="3756124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30B1F-ED56-A017-0708-C285C4791CE9}"/>
              </a:ext>
            </a:extLst>
          </p:cNvPr>
          <p:cNvSpPr>
            <a:spLocks noGrp="1"/>
          </p:cNvSpPr>
          <p:nvPr>
            <p:ph type="title"/>
          </p:nvPr>
        </p:nvSpPr>
        <p:spPr/>
        <p:txBody>
          <a:bodyPr/>
          <a:lstStyle/>
          <a:p>
            <a:r>
              <a:rPr lang="en-US" dirty="0"/>
              <a:t>Important Terminology</a:t>
            </a:r>
          </a:p>
        </p:txBody>
      </p:sp>
      <p:sp>
        <p:nvSpPr>
          <p:cNvPr id="3" name="Content Placeholder 2">
            <a:extLst>
              <a:ext uri="{FF2B5EF4-FFF2-40B4-BE49-F238E27FC236}">
                <a16:creationId xmlns:a16="http://schemas.microsoft.com/office/drawing/2014/main" id="{86A40385-FB7D-7114-D0B4-FEC19E17C5A0}"/>
              </a:ext>
            </a:extLst>
          </p:cNvPr>
          <p:cNvSpPr>
            <a:spLocks noGrp="1"/>
          </p:cNvSpPr>
          <p:nvPr>
            <p:ph idx="1"/>
          </p:nvPr>
        </p:nvSpPr>
        <p:spPr/>
        <p:txBody>
          <a:bodyPr vert="horz" lIns="91440" tIns="45720" rIns="91440" bIns="45720" rtlCol="0" anchor="t">
            <a:normAutofit/>
          </a:bodyPr>
          <a:lstStyle/>
          <a:p>
            <a:r>
              <a:rPr lang="en-US" b="1" dirty="0">
                <a:ea typeface="+mn-lt"/>
                <a:cs typeface="+mn-lt"/>
              </a:rPr>
              <a:t>Water-Cement Ratio (w/c) </a:t>
            </a:r>
            <a:r>
              <a:rPr lang="en-US" dirty="0">
                <a:ea typeface="+mn-lt"/>
                <a:cs typeface="+mn-lt"/>
              </a:rPr>
              <a:t>— The ratio is calculated by dividing the mass of the mixing water by the mass of the cement. It refers to the ratio corresponding to the saturated surface dry condition of aggregates.</a:t>
            </a:r>
          </a:p>
          <a:p>
            <a:r>
              <a:rPr lang="en-US" b="1" dirty="0">
                <a:ea typeface="+mn-lt"/>
                <a:cs typeface="+mn-lt"/>
              </a:rPr>
              <a:t>Water-Cementitious Materials Ratio (w/cm) </a:t>
            </a:r>
            <a:r>
              <a:rPr lang="en-US" dirty="0">
                <a:ea typeface="+mn-lt"/>
                <a:cs typeface="+mn-lt"/>
              </a:rPr>
              <a:t>— The ratio (w/cm) is calculated by dividing the mass of the mixing water by the combined mass of the cement and fly ash or other cementitious materials or a combination thereof. It refers to the ratio corresponding to the saturated surface dry condition of aggregates.</a:t>
            </a:r>
            <a:endParaRPr lang="en-US" dirty="0"/>
          </a:p>
        </p:txBody>
      </p:sp>
    </p:spTree>
    <p:extLst>
      <p:ext uri="{BB962C8B-B14F-4D97-AF65-F5344CB8AC3E}">
        <p14:creationId xmlns:p14="http://schemas.microsoft.com/office/powerpoint/2010/main" val="2723281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65A5-0CE8-9F4D-67D3-139CDB0C509B}"/>
              </a:ext>
            </a:extLst>
          </p:cNvPr>
          <p:cNvSpPr>
            <a:spLocks noGrp="1"/>
          </p:cNvSpPr>
          <p:nvPr>
            <p:ph type="title"/>
          </p:nvPr>
        </p:nvSpPr>
        <p:spPr/>
        <p:txBody>
          <a:bodyPr>
            <a:normAutofit fontScale="90000"/>
          </a:bodyPr>
          <a:lstStyle/>
          <a:p>
            <a:r>
              <a:rPr lang="en-US" sz="4400" dirty="0"/>
              <a:t>Target Strength for Mix Proportioning</a:t>
            </a:r>
          </a:p>
          <a:p>
            <a:endParaRPr lang="en-US" dirty="0"/>
          </a:p>
        </p:txBody>
      </p:sp>
      <p:pic>
        <p:nvPicPr>
          <p:cNvPr id="5" name="Content Placeholder 4">
            <a:extLst>
              <a:ext uri="{FF2B5EF4-FFF2-40B4-BE49-F238E27FC236}">
                <a16:creationId xmlns:a16="http://schemas.microsoft.com/office/drawing/2014/main" id="{6CBE383A-F7DB-1592-E9E7-4E80A7FBC567}"/>
              </a:ext>
            </a:extLst>
          </p:cNvPr>
          <p:cNvPicPr>
            <a:picLocks noGrp="1" noChangeAspect="1"/>
          </p:cNvPicPr>
          <p:nvPr>
            <p:ph idx="1"/>
          </p:nvPr>
        </p:nvPicPr>
        <p:blipFill>
          <a:blip r:embed="rId2"/>
          <a:stretch>
            <a:fillRect/>
          </a:stretch>
        </p:blipFill>
        <p:spPr>
          <a:xfrm>
            <a:off x="4981728" y="1855092"/>
            <a:ext cx="1752600" cy="810538"/>
          </a:xfrm>
        </p:spPr>
      </p:pic>
      <p:sp>
        <p:nvSpPr>
          <p:cNvPr id="4" name="Text Placeholder 3">
            <a:extLst>
              <a:ext uri="{FF2B5EF4-FFF2-40B4-BE49-F238E27FC236}">
                <a16:creationId xmlns:a16="http://schemas.microsoft.com/office/drawing/2014/main" id="{8414514F-774E-4D20-FF0C-419546F28E9B}"/>
              </a:ext>
            </a:extLst>
          </p:cNvPr>
          <p:cNvSpPr>
            <a:spLocks noGrp="1"/>
          </p:cNvSpPr>
          <p:nvPr>
            <p:ph type="body" sz="half" idx="2"/>
          </p:nvPr>
        </p:nvSpPr>
        <p:spPr/>
        <p:txBody>
          <a:bodyPr vert="horz" lIns="91440" tIns="45720" rIns="91440" bIns="45720" rtlCol="0" anchor="t">
            <a:normAutofit/>
          </a:bodyPr>
          <a:lstStyle/>
          <a:p>
            <a:r>
              <a:rPr lang="en-US" dirty="0"/>
              <a:t>Whichever is higher among the both is considered</a:t>
            </a:r>
          </a:p>
          <a:p>
            <a:r>
              <a:rPr lang="en-US" err="1">
                <a:ea typeface="+mn-lt"/>
                <a:cs typeface="+mn-lt"/>
              </a:rPr>
              <a:t>f’ck</a:t>
            </a:r>
            <a:r>
              <a:rPr lang="en-US" dirty="0">
                <a:ea typeface="+mn-lt"/>
                <a:cs typeface="+mn-lt"/>
              </a:rPr>
              <a:t> = target mean compressive strength at 28 days, in N/mm2; </a:t>
            </a:r>
          </a:p>
          <a:p>
            <a:r>
              <a:rPr lang="en-US" err="1">
                <a:ea typeface="+mn-lt"/>
                <a:cs typeface="+mn-lt"/>
              </a:rPr>
              <a:t>fck</a:t>
            </a:r>
            <a:r>
              <a:rPr lang="en-US" dirty="0">
                <a:ea typeface="+mn-lt"/>
                <a:cs typeface="+mn-lt"/>
              </a:rPr>
              <a:t> = characteristic compressive strength at 28 days, in N/mm2;</a:t>
            </a:r>
          </a:p>
          <a:p>
            <a:r>
              <a:rPr lang="en-US" dirty="0">
                <a:ea typeface="+mn-lt"/>
                <a:cs typeface="+mn-lt"/>
              </a:rPr>
              <a:t>S = standard deviation, in N/mm2 </a:t>
            </a:r>
          </a:p>
          <a:p>
            <a:r>
              <a:rPr lang="en-US" dirty="0">
                <a:ea typeface="+mn-lt"/>
                <a:cs typeface="+mn-lt"/>
              </a:rPr>
              <a:t>X = factor based on the grade of concrete,</a:t>
            </a:r>
            <a:endParaRPr lang="en-US" dirty="0"/>
          </a:p>
        </p:txBody>
      </p:sp>
    </p:spTree>
    <p:extLst>
      <p:ext uri="{BB962C8B-B14F-4D97-AF65-F5344CB8AC3E}">
        <p14:creationId xmlns:p14="http://schemas.microsoft.com/office/powerpoint/2010/main" val="3501544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98A53-67C7-C06B-A238-A35EF231BBC1}"/>
              </a:ext>
            </a:extLst>
          </p:cNvPr>
          <p:cNvSpPr>
            <a:spLocks noGrp="1"/>
          </p:cNvSpPr>
          <p:nvPr>
            <p:ph type="title"/>
          </p:nvPr>
        </p:nvSpPr>
        <p:spPr/>
        <p:txBody>
          <a:bodyPr/>
          <a:lstStyle/>
          <a:p>
            <a:r>
              <a:rPr lang="en-US" dirty="0"/>
              <a:t>Ordinary and Standard Grades of Concrete</a:t>
            </a:r>
          </a:p>
        </p:txBody>
      </p:sp>
      <p:sp>
        <p:nvSpPr>
          <p:cNvPr id="3" name="Content Placeholder 2">
            <a:extLst>
              <a:ext uri="{FF2B5EF4-FFF2-40B4-BE49-F238E27FC236}">
                <a16:creationId xmlns:a16="http://schemas.microsoft.com/office/drawing/2014/main" id="{3519F70A-D96B-8779-BDB6-BFE84B52B5B2}"/>
              </a:ext>
            </a:extLst>
          </p:cNvPr>
          <p:cNvSpPr>
            <a:spLocks noGrp="1"/>
          </p:cNvSpPr>
          <p:nvPr>
            <p:ph idx="1"/>
          </p:nvPr>
        </p:nvSpPr>
        <p:spPr/>
        <p:txBody>
          <a:bodyPr vert="horz" lIns="91440" tIns="45720" rIns="91440" bIns="45720" rtlCol="0" anchor="t">
            <a:normAutofit lnSpcReduction="10000"/>
          </a:bodyPr>
          <a:lstStyle/>
          <a:p>
            <a:r>
              <a:rPr lang="en-US" dirty="0"/>
              <a:t>For selecting mix proportions, these are the required steps</a:t>
            </a:r>
          </a:p>
          <a:p>
            <a:r>
              <a:rPr lang="en-US" dirty="0">
                <a:ea typeface="+mn-lt"/>
                <a:cs typeface="+mn-lt"/>
              </a:rPr>
              <a:t>Selection of Water-Cement Ratio</a:t>
            </a:r>
            <a:endParaRPr lang="en-US" dirty="0"/>
          </a:p>
          <a:p>
            <a:r>
              <a:rPr lang="en-US" dirty="0">
                <a:ea typeface="+mn-lt"/>
                <a:cs typeface="+mn-lt"/>
              </a:rPr>
              <a:t>Estimation of Air Content</a:t>
            </a:r>
          </a:p>
          <a:p>
            <a:r>
              <a:rPr lang="en-US" dirty="0">
                <a:ea typeface="+mn-lt"/>
                <a:cs typeface="+mn-lt"/>
              </a:rPr>
              <a:t>Selection of Water Content and Admixture Content</a:t>
            </a:r>
          </a:p>
          <a:p>
            <a:r>
              <a:rPr lang="en-US" dirty="0">
                <a:ea typeface="+mn-lt"/>
                <a:cs typeface="+mn-lt"/>
              </a:rPr>
              <a:t>Calculation of Cement/Cementitious Materials Content</a:t>
            </a:r>
          </a:p>
          <a:p>
            <a:r>
              <a:rPr lang="en-US" dirty="0">
                <a:ea typeface="+mn-lt"/>
                <a:cs typeface="+mn-lt"/>
              </a:rPr>
              <a:t>Estimation of Coarse Aggregate Proportion</a:t>
            </a:r>
          </a:p>
          <a:p>
            <a:r>
              <a:rPr lang="en-US" dirty="0">
                <a:ea typeface="+mn-lt"/>
                <a:cs typeface="+mn-lt"/>
              </a:rPr>
              <a:t>Combination of Different Coarse Aggregate Fractions</a:t>
            </a:r>
          </a:p>
          <a:p>
            <a:r>
              <a:rPr lang="en-US" dirty="0">
                <a:ea typeface="+mn-lt"/>
                <a:cs typeface="+mn-lt"/>
              </a:rPr>
              <a:t>Estimation of Fine and Coarse Aggregate Contents</a:t>
            </a:r>
          </a:p>
          <a:p>
            <a:r>
              <a:rPr lang="en-US" dirty="0">
                <a:ea typeface="+mn-lt"/>
                <a:cs typeface="+mn-lt"/>
              </a:rPr>
              <a:t>Trial Mixes</a:t>
            </a:r>
          </a:p>
        </p:txBody>
      </p:sp>
    </p:spTree>
    <p:extLst>
      <p:ext uri="{BB962C8B-B14F-4D97-AF65-F5344CB8AC3E}">
        <p14:creationId xmlns:p14="http://schemas.microsoft.com/office/powerpoint/2010/main" val="49713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7321-3C5A-9027-888C-5806C988ACB3}"/>
              </a:ext>
            </a:extLst>
          </p:cNvPr>
          <p:cNvSpPr>
            <a:spLocks noGrp="1"/>
          </p:cNvSpPr>
          <p:nvPr>
            <p:ph type="title"/>
          </p:nvPr>
        </p:nvSpPr>
        <p:spPr/>
        <p:txBody>
          <a:bodyPr/>
          <a:lstStyle/>
          <a:p>
            <a:r>
              <a:rPr lang="en-US" dirty="0"/>
              <a:t>Free water cement ratio</a:t>
            </a:r>
          </a:p>
        </p:txBody>
      </p:sp>
      <p:pic>
        <p:nvPicPr>
          <p:cNvPr id="4" name="Content Placeholder 3">
            <a:extLst>
              <a:ext uri="{FF2B5EF4-FFF2-40B4-BE49-F238E27FC236}">
                <a16:creationId xmlns:a16="http://schemas.microsoft.com/office/drawing/2014/main" id="{3D665F2A-630C-6B71-3CC3-F06FF35F1D07}"/>
              </a:ext>
            </a:extLst>
          </p:cNvPr>
          <p:cNvPicPr>
            <a:picLocks noGrp="1" noChangeAspect="1"/>
          </p:cNvPicPr>
          <p:nvPr>
            <p:ph idx="1"/>
          </p:nvPr>
        </p:nvPicPr>
        <p:blipFill>
          <a:blip r:embed="rId2"/>
          <a:stretch>
            <a:fillRect/>
          </a:stretch>
        </p:blipFill>
        <p:spPr>
          <a:xfrm>
            <a:off x="3067247" y="1209762"/>
            <a:ext cx="5994876" cy="5635255"/>
          </a:xfrm>
        </p:spPr>
      </p:pic>
    </p:spTree>
    <p:extLst>
      <p:ext uri="{BB962C8B-B14F-4D97-AF65-F5344CB8AC3E}">
        <p14:creationId xmlns:p14="http://schemas.microsoft.com/office/powerpoint/2010/main" val="2096280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E0B4B-36C0-D2A6-2717-B3EBC2EA25D5}"/>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F59ED30E-94E8-1859-B211-6F949272EC64}"/>
              </a:ext>
            </a:extLst>
          </p:cNvPr>
          <p:cNvSpPr>
            <a:spLocks noGrp="1"/>
          </p:cNvSpPr>
          <p:nvPr>
            <p:ph idx="1"/>
          </p:nvPr>
        </p:nvSpPr>
        <p:spPr/>
        <p:txBody>
          <a:bodyPr vert="horz" lIns="91440" tIns="45720" rIns="91440" bIns="45720" rtlCol="0" anchor="t">
            <a:normAutofit/>
          </a:bodyPr>
          <a:lstStyle/>
          <a:p>
            <a:r>
              <a:rPr lang="en-US" dirty="0"/>
              <a:t>After selecting the water cement ratio, then we estimate the water content</a:t>
            </a:r>
          </a:p>
          <a:p>
            <a:r>
              <a:rPr lang="en-US" dirty="0"/>
              <a:t>The estimation of water and admixture content is primarily based on the nominal maximum size of the aggregates</a:t>
            </a:r>
          </a:p>
        </p:txBody>
      </p:sp>
      <p:graphicFrame>
        <p:nvGraphicFramePr>
          <p:cNvPr id="4" name="Table 3">
            <a:extLst>
              <a:ext uri="{FF2B5EF4-FFF2-40B4-BE49-F238E27FC236}">
                <a16:creationId xmlns:a16="http://schemas.microsoft.com/office/drawing/2014/main" id="{E27E8D97-04BE-5944-6E8D-A8DA01A4DE8D}"/>
              </a:ext>
            </a:extLst>
          </p:cNvPr>
          <p:cNvGraphicFramePr>
            <a:graphicFrameLocks noGrp="1"/>
          </p:cNvGraphicFramePr>
          <p:nvPr>
            <p:extLst>
              <p:ext uri="{D42A27DB-BD31-4B8C-83A1-F6EECF244321}">
                <p14:modId xmlns:p14="http://schemas.microsoft.com/office/powerpoint/2010/main" val="3247695789"/>
              </p:ext>
            </p:extLst>
          </p:nvPr>
        </p:nvGraphicFramePr>
        <p:xfrm>
          <a:off x="2022118" y="3885198"/>
          <a:ext cx="8154511" cy="1752600"/>
        </p:xfrm>
        <a:graphic>
          <a:graphicData uri="http://schemas.openxmlformats.org/drawingml/2006/table">
            <a:tbl>
              <a:tblPr firstRow="1" bandRow="1">
                <a:tableStyleId>{5C22544A-7EE6-4342-B048-85BDC9FD1C3A}</a:tableStyleId>
              </a:tblPr>
              <a:tblGrid>
                <a:gridCol w="2722879">
                  <a:extLst>
                    <a:ext uri="{9D8B030D-6E8A-4147-A177-3AD203B41FA5}">
                      <a16:colId xmlns:a16="http://schemas.microsoft.com/office/drawing/2014/main" val="2764712062"/>
                    </a:ext>
                  </a:extLst>
                </a:gridCol>
                <a:gridCol w="2722879">
                  <a:extLst>
                    <a:ext uri="{9D8B030D-6E8A-4147-A177-3AD203B41FA5}">
                      <a16:colId xmlns:a16="http://schemas.microsoft.com/office/drawing/2014/main" val="50581520"/>
                    </a:ext>
                  </a:extLst>
                </a:gridCol>
                <a:gridCol w="2708753">
                  <a:extLst>
                    <a:ext uri="{9D8B030D-6E8A-4147-A177-3AD203B41FA5}">
                      <a16:colId xmlns:a16="http://schemas.microsoft.com/office/drawing/2014/main" val="1740513688"/>
                    </a:ext>
                  </a:extLst>
                </a:gridCol>
              </a:tblGrid>
              <a:tr h="370840">
                <a:tc>
                  <a:txBody>
                    <a:bodyPr/>
                    <a:lstStyle/>
                    <a:p>
                      <a:r>
                        <a:rPr lang="en-US" dirty="0" err="1"/>
                        <a:t>Sl</a:t>
                      </a:r>
                      <a:r>
                        <a:rPr lang="en-US" dirty="0"/>
                        <a:t> No.</a:t>
                      </a:r>
                    </a:p>
                  </a:txBody>
                  <a:tcPr/>
                </a:tc>
                <a:tc>
                  <a:txBody>
                    <a:bodyPr/>
                    <a:lstStyle/>
                    <a:p>
                      <a:r>
                        <a:rPr lang="en-US" dirty="0"/>
                        <a:t>Nominal Max size of the aggregates (mm)</a:t>
                      </a:r>
                    </a:p>
                  </a:txBody>
                  <a:tcPr/>
                </a:tc>
                <a:tc>
                  <a:txBody>
                    <a:bodyPr/>
                    <a:lstStyle/>
                    <a:p>
                      <a:r>
                        <a:rPr lang="en-US" dirty="0"/>
                        <a:t>Water Content</a:t>
                      </a:r>
                    </a:p>
                    <a:p>
                      <a:pPr lvl="0">
                        <a:buNone/>
                      </a:pPr>
                      <a:r>
                        <a:rPr lang="en-US" dirty="0"/>
                        <a:t>(kg)</a:t>
                      </a:r>
                    </a:p>
                  </a:txBody>
                  <a:tcPr/>
                </a:tc>
                <a:extLst>
                  <a:ext uri="{0D108BD9-81ED-4DB2-BD59-A6C34878D82A}">
                    <a16:rowId xmlns:a16="http://schemas.microsoft.com/office/drawing/2014/main" val="4038455323"/>
                  </a:ext>
                </a:extLst>
              </a:tr>
              <a:tr h="370840">
                <a:tc>
                  <a:txBody>
                    <a:bodyPr/>
                    <a:lstStyle/>
                    <a:p>
                      <a:r>
                        <a:rPr lang="en-US" dirty="0"/>
                        <a:t>1</a:t>
                      </a:r>
                    </a:p>
                  </a:txBody>
                  <a:tcPr/>
                </a:tc>
                <a:tc>
                  <a:txBody>
                    <a:bodyPr/>
                    <a:lstStyle/>
                    <a:p>
                      <a:r>
                        <a:rPr lang="en-US" dirty="0"/>
                        <a:t>10</a:t>
                      </a:r>
                    </a:p>
                  </a:txBody>
                  <a:tcPr/>
                </a:tc>
                <a:tc>
                  <a:txBody>
                    <a:bodyPr/>
                    <a:lstStyle/>
                    <a:p>
                      <a:r>
                        <a:rPr lang="en-US" dirty="0"/>
                        <a:t>208</a:t>
                      </a:r>
                    </a:p>
                  </a:txBody>
                  <a:tcPr/>
                </a:tc>
                <a:extLst>
                  <a:ext uri="{0D108BD9-81ED-4DB2-BD59-A6C34878D82A}">
                    <a16:rowId xmlns:a16="http://schemas.microsoft.com/office/drawing/2014/main" val="1458631570"/>
                  </a:ext>
                </a:extLst>
              </a:tr>
              <a:tr h="370840">
                <a:tc>
                  <a:txBody>
                    <a:bodyPr/>
                    <a:lstStyle/>
                    <a:p>
                      <a:r>
                        <a:rPr lang="en-US" dirty="0"/>
                        <a:t>2</a:t>
                      </a:r>
                    </a:p>
                  </a:txBody>
                  <a:tcPr/>
                </a:tc>
                <a:tc>
                  <a:txBody>
                    <a:bodyPr/>
                    <a:lstStyle/>
                    <a:p>
                      <a:r>
                        <a:rPr lang="en-US" dirty="0"/>
                        <a:t>20</a:t>
                      </a:r>
                    </a:p>
                  </a:txBody>
                  <a:tcPr/>
                </a:tc>
                <a:tc>
                  <a:txBody>
                    <a:bodyPr/>
                    <a:lstStyle/>
                    <a:p>
                      <a:r>
                        <a:rPr lang="en-US" dirty="0"/>
                        <a:t>186</a:t>
                      </a:r>
                    </a:p>
                  </a:txBody>
                  <a:tcPr/>
                </a:tc>
                <a:extLst>
                  <a:ext uri="{0D108BD9-81ED-4DB2-BD59-A6C34878D82A}">
                    <a16:rowId xmlns:a16="http://schemas.microsoft.com/office/drawing/2014/main" val="237520304"/>
                  </a:ext>
                </a:extLst>
              </a:tr>
              <a:tr h="370840">
                <a:tc>
                  <a:txBody>
                    <a:bodyPr/>
                    <a:lstStyle/>
                    <a:p>
                      <a:r>
                        <a:rPr lang="en-US" dirty="0"/>
                        <a:t>3</a:t>
                      </a:r>
                    </a:p>
                  </a:txBody>
                  <a:tcPr/>
                </a:tc>
                <a:tc>
                  <a:txBody>
                    <a:bodyPr/>
                    <a:lstStyle/>
                    <a:p>
                      <a:r>
                        <a:rPr lang="en-US" dirty="0"/>
                        <a:t>40</a:t>
                      </a:r>
                    </a:p>
                  </a:txBody>
                  <a:tcPr/>
                </a:tc>
                <a:tc>
                  <a:txBody>
                    <a:bodyPr/>
                    <a:lstStyle/>
                    <a:p>
                      <a:r>
                        <a:rPr lang="en-US" dirty="0"/>
                        <a:t>165</a:t>
                      </a:r>
                    </a:p>
                  </a:txBody>
                  <a:tcPr/>
                </a:tc>
                <a:extLst>
                  <a:ext uri="{0D108BD9-81ED-4DB2-BD59-A6C34878D82A}">
                    <a16:rowId xmlns:a16="http://schemas.microsoft.com/office/drawing/2014/main" val="2894157396"/>
                  </a:ext>
                </a:extLst>
              </a:tr>
            </a:tbl>
          </a:graphicData>
        </a:graphic>
      </p:graphicFrame>
    </p:spTree>
    <p:extLst>
      <p:ext uri="{BB962C8B-B14F-4D97-AF65-F5344CB8AC3E}">
        <p14:creationId xmlns:p14="http://schemas.microsoft.com/office/powerpoint/2010/main" val="3434725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9A24-FD46-2FB1-EE92-80A9E48FF429}"/>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963D36B5-E343-6ED5-E923-994E7879BD51}"/>
              </a:ext>
            </a:extLst>
          </p:cNvPr>
          <p:cNvSpPr>
            <a:spLocks noGrp="1"/>
          </p:cNvSpPr>
          <p:nvPr>
            <p:ph idx="1"/>
          </p:nvPr>
        </p:nvSpPr>
        <p:spPr/>
        <p:txBody>
          <a:bodyPr vert="horz" lIns="91440" tIns="45720" rIns="91440" bIns="45720" rtlCol="0" anchor="t">
            <a:normAutofit/>
          </a:bodyPr>
          <a:lstStyle/>
          <a:p>
            <a:r>
              <a:rPr lang="en-US" dirty="0"/>
              <a:t>After selecting the water content using w/c ratio we estimate the cement content or cementitious materials content</a:t>
            </a:r>
          </a:p>
          <a:p>
            <a:r>
              <a:rPr lang="en-US" dirty="0"/>
              <a:t>Then estimation of air content</a:t>
            </a:r>
          </a:p>
          <a:p>
            <a:endParaRPr lang="en-US" dirty="0"/>
          </a:p>
        </p:txBody>
      </p:sp>
      <p:graphicFrame>
        <p:nvGraphicFramePr>
          <p:cNvPr id="4" name="Table 3">
            <a:extLst>
              <a:ext uri="{FF2B5EF4-FFF2-40B4-BE49-F238E27FC236}">
                <a16:creationId xmlns:a16="http://schemas.microsoft.com/office/drawing/2014/main" id="{128136D5-55DD-16A3-87A6-1383F3A2366A}"/>
              </a:ext>
            </a:extLst>
          </p:cNvPr>
          <p:cNvGraphicFramePr>
            <a:graphicFrameLocks noGrp="1"/>
          </p:cNvGraphicFramePr>
          <p:nvPr>
            <p:extLst>
              <p:ext uri="{D42A27DB-BD31-4B8C-83A1-F6EECF244321}">
                <p14:modId xmlns:p14="http://schemas.microsoft.com/office/powerpoint/2010/main" val="3360103447"/>
              </p:ext>
            </p:extLst>
          </p:nvPr>
        </p:nvGraphicFramePr>
        <p:xfrm>
          <a:off x="2011680" y="3425910"/>
          <a:ext cx="8168640" cy="202692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3424388959"/>
                    </a:ext>
                  </a:extLst>
                </a:gridCol>
                <a:gridCol w="2722880">
                  <a:extLst>
                    <a:ext uri="{9D8B030D-6E8A-4147-A177-3AD203B41FA5}">
                      <a16:colId xmlns:a16="http://schemas.microsoft.com/office/drawing/2014/main" val="1805223937"/>
                    </a:ext>
                  </a:extLst>
                </a:gridCol>
                <a:gridCol w="2722880">
                  <a:extLst>
                    <a:ext uri="{9D8B030D-6E8A-4147-A177-3AD203B41FA5}">
                      <a16:colId xmlns:a16="http://schemas.microsoft.com/office/drawing/2014/main" val="390517221"/>
                    </a:ext>
                  </a:extLst>
                </a:gridCol>
              </a:tblGrid>
              <a:tr h="375780">
                <a:tc>
                  <a:txBody>
                    <a:bodyPr/>
                    <a:lstStyle/>
                    <a:p>
                      <a:r>
                        <a:rPr lang="en-US" dirty="0" err="1"/>
                        <a:t>Sl</a:t>
                      </a:r>
                      <a:r>
                        <a:rPr lang="en-US" dirty="0"/>
                        <a:t> No.</a:t>
                      </a:r>
                    </a:p>
                  </a:txBody>
                  <a:tcPr/>
                </a:tc>
                <a:tc>
                  <a:txBody>
                    <a:bodyPr/>
                    <a:lstStyle/>
                    <a:p>
                      <a:pPr lvl="0" algn="l">
                        <a:lnSpc>
                          <a:spcPct val="100000"/>
                        </a:lnSpc>
                        <a:spcBef>
                          <a:spcPts val="0"/>
                        </a:spcBef>
                        <a:spcAft>
                          <a:spcPts val="0"/>
                        </a:spcAft>
                        <a:buNone/>
                      </a:pPr>
                      <a:r>
                        <a:rPr lang="en-US" sz="1800" b="1" i="0" u="none" strike="noStrike" noProof="0" dirty="0">
                          <a:solidFill>
                            <a:srgbClr val="FFFFFF"/>
                          </a:solidFill>
                          <a:latin typeface="Aptos"/>
                        </a:rPr>
                        <a:t>Nominal Max size of the aggregates (mm)</a:t>
                      </a:r>
                    </a:p>
                  </a:txBody>
                  <a:tcPr/>
                </a:tc>
                <a:tc>
                  <a:txBody>
                    <a:bodyPr/>
                    <a:lstStyle/>
                    <a:p>
                      <a:pPr lvl="0">
                        <a:buNone/>
                      </a:pPr>
                      <a:r>
                        <a:rPr lang="en-US" sz="1800" b="1" i="0" u="none" strike="noStrike" noProof="0" dirty="0">
                          <a:latin typeface="Aptos"/>
                        </a:rPr>
                        <a:t>Entrapped Air, as Percentage of Volume of Concrete </a:t>
                      </a:r>
                      <a:endParaRPr lang="en-US" b="1" dirty="0"/>
                    </a:p>
                  </a:txBody>
                  <a:tcPr/>
                </a:tc>
                <a:extLst>
                  <a:ext uri="{0D108BD9-81ED-4DB2-BD59-A6C34878D82A}">
                    <a16:rowId xmlns:a16="http://schemas.microsoft.com/office/drawing/2014/main" val="1371264377"/>
                  </a:ext>
                </a:extLst>
              </a:tr>
              <a:tr h="370840">
                <a:tc>
                  <a:txBody>
                    <a:bodyPr/>
                    <a:lstStyle/>
                    <a:p>
                      <a:r>
                        <a:rPr lang="en-US" dirty="0"/>
                        <a:t>1</a:t>
                      </a:r>
                    </a:p>
                  </a:txBody>
                  <a:tcPr/>
                </a:tc>
                <a:tc>
                  <a:txBody>
                    <a:bodyPr/>
                    <a:lstStyle/>
                    <a:p>
                      <a:r>
                        <a:rPr lang="en-US" dirty="0"/>
                        <a:t>10</a:t>
                      </a:r>
                    </a:p>
                  </a:txBody>
                  <a:tcPr/>
                </a:tc>
                <a:tc>
                  <a:txBody>
                    <a:bodyPr/>
                    <a:lstStyle/>
                    <a:p>
                      <a:r>
                        <a:rPr lang="en-US" dirty="0"/>
                        <a:t>1.5</a:t>
                      </a:r>
                    </a:p>
                  </a:txBody>
                  <a:tcPr/>
                </a:tc>
                <a:extLst>
                  <a:ext uri="{0D108BD9-81ED-4DB2-BD59-A6C34878D82A}">
                    <a16:rowId xmlns:a16="http://schemas.microsoft.com/office/drawing/2014/main" val="3337340947"/>
                  </a:ext>
                </a:extLst>
              </a:tr>
              <a:tr h="370840">
                <a:tc>
                  <a:txBody>
                    <a:bodyPr/>
                    <a:lstStyle/>
                    <a:p>
                      <a:r>
                        <a:rPr lang="en-US" dirty="0"/>
                        <a:t>2</a:t>
                      </a:r>
                    </a:p>
                  </a:txBody>
                  <a:tcPr/>
                </a:tc>
                <a:tc>
                  <a:txBody>
                    <a:bodyPr/>
                    <a:lstStyle/>
                    <a:p>
                      <a:r>
                        <a:rPr lang="en-US" dirty="0"/>
                        <a:t>20</a:t>
                      </a:r>
                    </a:p>
                  </a:txBody>
                  <a:tcPr/>
                </a:tc>
                <a:tc>
                  <a:txBody>
                    <a:bodyPr/>
                    <a:lstStyle/>
                    <a:p>
                      <a:r>
                        <a:rPr lang="en-US" dirty="0"/>
                        <a:t>1.0</a:t>
                      </a:r>
                    </a:p>
                  </a:txBody>
                  <a:tcPr/>
                </a:tc>
                <a:extLst>
                  <a:ext uri="{0D108BD9-81ED-4DB2-BD59-A6C34878D82A}">
                    <a16:rowId xmlns:a16="http://schemas.microsoft.com/office/drawing/2014/main" val="4198365681"/>
                  </a:ext>
                </a:extLst>
              </a:tr>
              <a:tr h="370840">
                <a:tc>
                  <a:txBody>
                    <a:bodyPr/>
                    <a:lstStyle/>
                    <a:p>
                      <a:r>
                        <a:rPr lang="en-US" dirty="0"/>
                        <a:t>3</a:t>
                      </a:r>
                    </a:p>
                  </a:txBody>
                  <a:tcPr/>
                </a:tc>
                <a:tc>
                  <a:txBody>
                    <a:bodyPr/>
                    <a:lstStyle/>
                    <a:p>
                      <a:r>
                        <a:rPr lang="en-US" dirty="0"/>
                        <a:t>40</a:t>
                      </a:r>
                    </a:p>
                  </a:txBody>
                  <a:tcPr/>
                </a:tc>
                <a:tc>
                  <a:txBody>
                    <a:bodyPr/>
                    <a:lstStyle/>
                    <a:p>
                      <a:r>
                        <a:rPr lang="en-US" dirty="0"/>
                        <a:t>0.8</a:t>
                      </a:r>
                    </a:p>
                  </a:txBody>
                  <a:tcPr/>
                </a:tc>
                <a:extLst>
                  <a:ext uri="{0D108BD9-81ED-4DB2-BD59-A6C34878D82A}">
                    <a16:rowId xmlns:a16="http://schemas.microsoft.com/office/drawing/2014/main" val="2588615160"/>
                  </a:ext>
                </a:extLst>
              </a:tr>
            </a:tbl>
          </a:graphicData>
        </a:graphic>
      </p:graphicFrame>
    </p:spTree>
    <p:extLst>
      <p:ext uri="{BB962C8B-B14F-4D97-AF65-F5344CB8AC3E}">
        <p14:creationId xmlns:p14="http://schemas.microsoft.com/office/powerpoint/2010/main" val="3606735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9B0E-7DA8-945B-E7F0-480120692D28}"/>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F9DC533E-0BF0-512A-9BF4-72F8E50ADDB0}"/>
              </a:ext>
            </a:extLst>
          </p:cNvPr>
          <p:cNvSpPr>
            <a:spLocks noGrp="1"/>
          </p:cNvSpPr>
          <p:nvPr>
            <p:ph idx="1"/>
          </p:nvPr>
        </p:nvSpPr>
        <p:spPr/>
        <p:txBody>
          <a:bodyPr vert="horz" lIns="91440" tIns="45720" rIns="91440" bIns="45720" rtlCol="0" anchor="t">
            <a:normAutofit/>
          </a:bodyPr>
          <a:lstStyle/>
          <a:p>
            <a:r>
              <a:rPr lang="en-US" dirty="0"/>
              <a:t>Estimation of Coarse aggregates proportion</a:t>
            </a:r>
          </a:p>
          <a:p>
            <a:endParaRPr lang="en-US" dirty="0"/>
          </a:p>
        </p:txBody>
      </p:sp>
      <p:pic>
        <p:nvPicPr>
          <p:cNvPr id="4" name="Picture 3" descr="A black and white text with black text&#10;&#10;Description automatically generated">
            <a:extLst>
              <a:ext uri="{FF2B5EF4-FFF2-40B4-BE49-F238E27FC236}">
                <a16:creationId xmlns:a16="http://schemas.microsoft.com/office/drawing/2014/main" id="{2B2786FC-C59A-39B8-C8D2-1C0262A8ECC0}"/>
              </a:ext>
            </a:extLst>
          </p:cNvPr>
          <p:cNvPicPr>
            <a:picLocks noChangeAspect="1"/>
          </p:cNvPicPr>
          <p:nvPr/>
        </p:nvPicPr>
        <p:blipFill>
          <a:blip r:embed="rId2"/>
          <a:stretch>
            <a:fillRect/>
          </a:stretch>
        </p:blipFill>
        <p:spPr>
          <a:xfrm>
            <a:off x="1466850" y="2359644"/>
            <a:ext cx="9258300" cy="4191000"/>
          </a:xfrm>
          <a:prstGeom prst="rect">
            <a:avLst/>
          </a:prstGeom>
        </p:spPr>
      </p:pic>
    </p:spTree>
    <p:extLst>
      <p:ext uri="{BB962C8B-B14F-4D97-AF65-F5344CB8AC3E}">
        <p14:creationId xmlns:p14="http://schemas.microsoft.com/office/powerpoint/2010/main" val="4049834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146FC-1C9B-6E19-FBE0-E0E49C4F5FE9}"/>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433921C0-0D94-E637-9A6C-516D57EC9695}"/>
              </a:ext>
            </a:extLst>
          </p:cNvPr>
          <p:cNvSpPr>
            <a:spLocks noGrp="1"/>
          </p:cNvSpPr>
          <p:nvPr>
            <p:ph idx="1"/>
          </p:nvPr>
        </p:nvSpPr>
        <p:spPr/>
        <p:txBody>
          <a:bodyPr vert="horz" lIns="91440" tIns="45720" rIns="91440" bIns="45720" rtlCol="0" anchor="t">
            <a:normAutofit/>
          </a:bodyPr>
          <a:lstStyle/>
          <a:p>
            <a:r>
              <a:rPr lang="en-US" dirty="0"/>
              <a:t>The different zones of fine aggregates correspond to its gradation characteristics</a:t>
            </a:r>
          </a:p>
          <a:p>
            <a:r>
              <a:rPr lang="en-US" dirty="0"/>
              <a:t>This represents the proportion of the fine aggregates that pass through the sieve size of 600 micron </a:t>
            </a:r>
          </a:p>
        </p:txBody>
      </p:sp>
      <p:graphicFrame>
        <p:nvGraphicFramePr>
          <p:cNvPr id="5" name="Table 4">
            <a:extLst>
              <a:ext uri="{FF2B5EF4-FFF2-40B4-BE49-F238E27FC236}">
                <a16:creationId xmlns:a16="http://schemas.microsoft.com/office/drawing/2014/main" id="{0D674017-A119-B7F9-1815-B0E3B49337B7}"/>
              </a:ext>
            </a:extLst>
          </p:cNvPr>
          <p:cNvGraphicFramePr>
            <a:graphicFrameLocks noGrp="1"/>
          </p:cNvGraphicFramePr>
          <p:nvPr>
            <p:extLst>
              <p:ext uri="{D42A27DB-BD31-4B8C-83A1-F6EECF244321}">
                <p14:modId xmlns:p14="http://schemas.microsoft.com/office/powerpoint/2010/main" val="3531012173"/>
              </p:ext>
            </p:extLst>
          </p:nvPr>
        </p:nvGraphicFramePr>
        <p:xfrm>
          <a:off x="2397276" y="3997760"/>
          <a:ext cx="7397448" cy="1847850"/>
        </p:xfrm>
        <a:graphic>
          <a:graphicData uri="http://schemas.openxmlformats.org/drawingml/2006/table">
            <a:tbl>
              <a:tblPr bandRow="1">
                <a:tableStyleId>{5C22544A-7EE6-4342-B048-85BDC9FD1C3A}</a:tableStyleId>
              </a:tblPr>
              <a:tblGrid>
                <a:gridCol w="3698724">
                  <a:extLst>
                    <a:ext uri="{9D8B030D-6E8A-4147-A177-3AD203B41FA5}">
                      <a16:colId xmlns:a16="http://schemas.microsoft.com/office/drawing/2014/main" val="4227372062"/>
                    </a:ext>
                  </a:extLst>
                </a:gridCol>
                <a:gridCol w="3698724">
                  <a:extLst>
                    <a:ext uri="{9D8B030D-6E8A-4147-A177-3AD203B41FA5}">
                      <a16:colId xmlns:a16="http://schemas.microsoft.com/office/drawing/2014/main" val="45036913"/>
                    </a:ext>
                  </a:extLst>
                </a:gridCol>
              </a:tblGrid>
              <a:tr h="0">
                <a:tc>
                  <a:txBody>
                    <a:bodyPr/>
                    <a:lstStyle/>
                    <a:p>
                      <a:r>
                        <a:rPr lang="en-US" b="1">
                          <a:effectLst/>
                        </a:rPr>
                        <a:t>Zone</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1">
                          <a:effectLst/>
                        </a:rPr>
                        <a:t>Percentage</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676003178"/>
                  </a:ext>
                </a:extLst>
              </a:tr>
              <a:tr h="0">
                <a:tc>
                  <a:txBody>
                    <a:bodyPr/>
                    <a:lstStyle/>
                    <a:p>
                      <a:r>
                        <a:rPr lang="en-US" b="0">
                          <a:effectLst/>
                        </a:rPr>
                        <a:t>Zone I</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0">
                          <a:effectLst/>
                        </a:rPr>
                        <a:t>15% to 34%</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78294638"/>
                  </a:ext>
                </a:extLst>
              </a:tr>
              <a:tr h="0">
                <a:tc>
                  <a:txBody>
                    <a:bodyPr/>
                    <a:lstStyle/>
                    <a:p>
                      <a:r>
                        <a:rPr lang="en-US" b="0">
                          <a:effectLst/>
                        </a:rPr>
                        <a:t>Zone II</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0">
                          <a:effectLst/>
                        </a:rPr>
                        <a:t>34% to 59%</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41203155"/>
                  </a:ext>
                </a:extLst>
              </a:tr>
              <a:tr h="0">
                <a:tc>
                  <a:txBody>
                    <a:bodyPr/>
                    <a:lstStyle/>
                    <a:p>
                      <a:r>
                        <a:rPr lang="en-US" b="0">
                          <a:effectLst/>
                        </a:rPr>
                        <a:t>Zone III</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0">
                          <a:effectLst/>
                        </a:rPr>
                        <a:t>60% to 79%</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55021972"/>
                  </a:ext>
                </a:extLst>
              </a:tr>
              <a:tr h="0">
                <a:tc>
                  <a:txBody>
                    <a:bodyPr/>
                    <a:lstStyle/>
                    <a:p>
                      <a:r>
                        <a:rPr lang="en-US" b="0">
                          <a:effectLst/>
                        </a:rPr>
                        <a:t>Zone IV</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r>
                        <a:rPr lang="en-US" b="0">
                          <a:effectLst/>
                        </a:rPr>
                        <a:t>80% to 100%</a:t>
                      </a:r>
                      <a:endParaRPr lang="en-US">
                        <a:effectLst/>
                      </a:endParaRPr>
                    </a:p>
                  </a:txBody>
                  <a:tcPr marL="76200" marR="76200" marT="47625" marB="4762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450235165"/>
                  </a:ext>
                </a:extLst>
              </a:tr>
            </a:tbl>
          </a:graphicData>
        </a:graphic>
      </p:graphicFrame>
    </p:spTree>
    <p:extLst>
      <p:ext uri="{BB962C8B-B14F-4D97-AF65-F5344CB8AC3E}">
        <p14:creationId xmlns:p14="http://schemas.microsoft.com/office/powerpoint/2010/main" val="2420911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3D72-13EB-9AE7-4C4E-BEBCA18B9CAE}"/>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B5BA1437-9AD1-CAC2-BC97-84FBDAFC0C77}"/>
              </a:ext>
            </a:extLst>
          </p:cNvPr>
          <p:cNvSpPr>
            <a:spLocks noGrp="1"/>
          </p:cNvSpPr>
          <p:nvPr>
            <p:ph idx="1"/>
          </p:nvPr>
        </p:nvSpPr>
        <p:spPr/>
        <p:txBody>
          <a:bodyPr vert="horz" lIns="91440" tIns="45720" rIns="91440" bIns="45720" rtlCol="0" anchor="t">
            <a:normAutofit/>
          </a:bodyPr>
          <a:lstStyle/>
          <a:p>
            <a:r>
              <a:rPr lang="en-US" dirty="0"/>
              <a:t>Calculation of Aggregate content</a:t>
            </a:r>
          </a:p>
          <a:p>
            <a:pPr algn="just"/>
            <a:r>
              <a:rPr lang="en-US" sz="2600" dirty="0">
                <a:latin typeface="Arial"/>
                <a:cs typeface="Arial"/>
              </a:rPr>
              <a:t>•</a:t>
            </a:r>
            <a:r>
              <a:rPr lang="en-US" sz="2600" b="1" dirty="0">
                <a:ea typeface="+mn-lt"/>
                <a:cs typeface="+mn-lt"/>
              </a:rPr>
              <a:t>V= [ W + C/Sc  + 1/p x fa/</a:t>
            </a:r>
            <a:r>
              <a:rPr lang="en-US" sz="2600" b="1" dirty="0" err="1">
                <a:ea typeface="+mn-lt"/>
                <a:cs typeface="+mn-lt"/>
              </a:rPr>
              <a:t>Sfa</a:t>
            </a:r>
            <a:r>
              <a:rPr lang="en-US" sz="2600" b="1" dirty="0">
                <a:ea typeface="+mn-lt"/>
                <a:cs typeface="+mn-lt"/>
              </a:rPr>
              <a:t>   ] x1/1000       for fine aggregate …......1</a:t>
            </a:r>
          </a:p>
          <a:p>
            <a:pPr marL="0" indent="0" algn="just">
              <a:buNone/>
            </a:pPr>
            <a:r>
              <a:rPr lang="en-US" sz="2600" b="1" dirty="0">
                <a:ea typeface="+mn-lt"/>
                <a:cs typeface="+mn-lt"/>
              </a:rPr>
              <a:t>And</a:t>
            </a:r>
            <a:endParaRPr lang="en-US" dirty="0">
              <a:ea typeface="+mn-lt"/>
              <a:cs typeface="+mn-lt"/>
            </a:endParaRPr>
          </a:p>
          <a:p>
            <a:pPr algn="just"/>
            <a:r>
              <a:rPr lang="en-US" sz="2600" b="1" dirty="0">
                <a:ea typeface="+mn-lt"/>
                <a:cs typeface="+mn-lt"/>
              </a:rPr>
              <a:t>V = [ W +  C/Sc +  1/(1-p) x Ca/</a:t>
            </a:r>
            <a:r>
              <a:rPr lang="en-US" sz="2600" b="1" dirty="0" err="1">
                <a:ea typeface="+mn-lt"/>
                <a:cs typeface="+mn-lt"/>
              </a:rPr>
              <a:t>Sca</a:t>
            </a:r>
            <a:r>
              <a:rPr lang="en-US" sz="2600" b="1" dirty="0">
                <a:ea typeface="+mn-lt"/>
                <a:cs typeface="+mn-lt"/>
              </a:rPr>
              <a:t> ] x1/1000    for coarse aggregate  …………..2                        </a:t>
            </a:r>
            <a:endParaRPr lang="en-US" dirty="0">
              <a:ea typeface="+mn-lt"/>
              <a:cs typeface="+mn-lt"/>
            </a:endParaRPr>
          </a:p>
          <a:p>
            <a:r>
              <a:rPr lang="en-US" dirty="0">
                <a:ea typeface="+mn-lt"/>
                <a:cs typeface="+mn-lt"/>
              </a:rPr>
              <a:t>the proportion of volume of coarse aggregates to that of total aggregates is increased at the rate of 0.01 for every decrease in water-cement/cementitious materials ratio by 0.05 and decreased at the rate of 0.01 for every increase in water cement ratio by 0.05.</a:t>
            </a:r>
            <a:endParaRPr lang="en-US" dirty="0"/>
          </a:p>
        </p:txBody>
      </p:sp>
    </p:spTree>
    <p:extLst>
      <p:ext uri="{BB962C8B-B14F-4D97-AF65-F5344CB8AC3E}">
        <p14:creationId xmlns:p14="http://schemas.microsoft.com/office/powerpoint/2010/main" val="4163253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9D4B-ED80-BDF1-94C4-D858C1F0FB42}"/>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2A0972C0-25FE-DFC5-21A0-748191972BDC}"/>
              </a:ext>
            </a:extLst>
          </p:cNvPr>
          <p:cNvSpPr>
            <a:spLocks noGrp="1"/>
          </p:cNvSpPr>
          <p:nvPr>
            <p:ph idx="1"/>
          </p:nvPr>
        </p:nvSpPr>
        <p:spPr/>
        <p:txBody>
          <a:bodyPr vert="horz" lIns="91440" tIns="45720" rIns="91440" bIns="45720" rtlCol="0" anchor="t">
            <a:normAutofit fontScale="92500" lnSpcReduction="10000"/>
          </a:bodyPr>
          <a:lstStyle/>
          <a:p>
            <a:r>
              <a:rPr lang="en-US" dirty="0"/>
              <a:t>Trial Mixes</a:t>
            </a:r>
          </a:p>
          <a:p>
            <a:r>
              <a:rPr lang="en-US" dirty="0">
                <a:ea typeface="+mn-lt"/>
                <a:cs typeface="+mn-lt"/>
              </a:rPr>
              <a:t>The calculated mix proportions shall be checked by means of trial batches</a:t>
            </a:r>
          </a:p>
          <a:p>
            <a:r>
              <a:rPr lang="en-US" dirty="0">
                <a:ea typeface="+mn-lt"/>
                <a:cs typeface="+mn-lt"/>
              </a:rPr>
              <a:t>Workability of the trial mix No. 1 shall be measured</a:t>
            </a:r>
          </a:p>
          <a:p>
            <a:r>
              <a:rPr lang="en-US" dirty="0">
                <a:ea typeface="+mn-lt"/>
                <a:cs typeface="+mn-lt"/>
              </a:rPr>
              <a:t>If the measured workability of Trial Mix No. 1 is different from the stipulated value, the water and/or admixture content shall be adjusted suitably</a:t>
            </a:r>
          </a:p>
          <a:p>
            <a:r>
              <a:rPr lang="en-US" dirty="0"/>
              <a:t>With this Trial Mix 2 is recalculated using the free water-cement/water-cementitious materials ratio at the pre-selected value</a:t>
            </a:r>
          </a:p>
          <a:p>
            <a:r>
              <a:rPr lang="en-US" dirty="0"/>
              <a:t>In addition to this 2 more trial mixes are made with a variation of + and – 10% of the pre-selected values while satisfying the workability criteria</a:t>
            </a:r>
          </a:p>
        </p:txBody>
      </p:sp>
    </p:spTree>
    <p:extLst>
      <p:ext uri="{BB962C8B-B14F-4D97-AF65-F5344CB8AC3E}">
        <p14:creationId xmlns:p14="http://schemas.microsoft.com/office/powerpoint/2010/main" val="3900305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641C9-880C-D749-5AF5-75123615CE56}"/>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919AE70B-ED43-14DE-5145-8DC7ACC10ABC}"/>
              </a:ext>
            </a:extLst>
          </p:cNvPr>
          <p:cNvSpPr>
            <a:spLocks noGrp="1"/>
          </p:cNvSpPr>
          <p:nvPr>
            <p:ph idx="1"/>
          </p:nvPr>
        </p:nvSpPr>
        <p:spPr/>
        <p:txBody>
          <a:bodyPr vert="horz" lIns="91440" tIns="45720" rIns="91440" bIns="45720" rtlCol="0" anchor="t">
            <a:normAutofit/>
          </a:bodyPr>
          <a:lstStyle/>
          <a:p>
            <a:r>
              <a:rPr lang="en-US" dirty="0"/>
              <a:t>With all these mixes from 2-4 we get sufficient </a:t>
            </a:r>
            <a:r>
              <a:rPr lang="en-US" dirty="0">
                <a:ea typeface="+mn-lt"/>
                <a:cs typeface="+mn-lt"/>
              </a:rPr>
              <a:t>information, including the relationship between compressive strength and water-cement ratio, from which the mix proportions can be finalized</a:t>
            </a:r>
          </a:p>
          <a:p>
            <a:r>
              <a:rPr lang="en-US" dirty="0"/>
              <a:t>These are done in such a way that the strength and durability criteria are satisfied</a:t>
            </a:r>
          </a:p>
          <a:p>
            <a:r>
              <a:rPr lang="en-US" dirty="0"/>
              <a:t>Additional field trails are recommended particularly for the requirement of workability</a:t>
            </a:r>
          </a:p>
          <a:p>
            <a:r>
              <a:rPr lang="en-US" dirty="0">
                <a:ea typeface="+mn-lt"/>
                <a:cs typeface="+mn-lt"/>
              </a:rPr>
              <a:t>The concrete for field trials shall be produced by methods of actual concrete production</a:t>
            </a:r>
            <a:endParaRPr lang="en-US" dirty="0"/>
          </a:p>
        </p:txBody>
      </p:sp>
    </p:spTree>
    <p:extLst>
      <p:ext uri="{BB962C8B-B14F-4D97-AF65-F5344CB8AC3E}">
        <p14:creationId xmlns:p14="http://schemas.microsoft.com/office/powerpoint/2010/main" val="4027940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1F6D-F5A3-9A15-A390-394B44D8A6AC}"/>
              </a:ext>
            </a:extLst>
          </p:cNvPr>
          <p:cNvSpPr>
            <a:spLocks noGrp="1"/>
          </p:cNvSpPr>
          <p:nvPr>
            <p:ph type="title"/>
          </p:nvPr>
        </p:nvSpPr>
        <p:spPr/>
        <p:txBody>
          <a:bodyPr/>
          <a:lstStyle/>
          <a:p>
            <a:r>
              <a:rPr lang="en-US" dirty="0"/>
              <a:t>Selection of Mix Proportions</a:t>
            </a:r>
          </a:p>
        </p:txBody>
      </p:sp>
      <p:sp>
        <p:nvSpPr>
          <p:cNvPr id="3" name="Content Placeholder 2">
            <a:extLst>
              <a:ext uri="{FF2B5EF4-FFF2-40B4-BE49-F238E27FC236}">
                <a16:creationId xmlns:a16="http://schemas.microsoft.com/office/drawing/2014/main" id="{5ED75FB9-F6F7-0A47-9F3B-C115A021DABD}"/>
              </a:ext>
            </a:extLst>
          </p:cNvPr>
          <p:cNvSpPr>
            <a:spLocks noGrp="1"/>
          </p:cNvSpPr>
          <p:nvPr>
            <p:ph idx="1"/>
          </p:nvPr>
        </p:nvSpPr>
        <p:spPr/>
        <p:txBody>
          <a:bodyPr vert="horz" lIns="91440" tIns="45720" rIns="91440" bIns="45720" rtlCol="0" anchor="t">
            <a:normAutofit lnSpcReduction="10000"/>
          </a:bodyPr>
          <a:lstStyle/>
          <a:p>
            <a:r>
              <a:rPr lang="en-US" dirty="0"/>
              <a:t>For high strength grades of concrete i.e., compressive strength of 65 N/mm2 or more </a:t>
            </a:r>
            <a:r>
              <a:rPr lang="en-US" dirty="0">
                <a:ea typeface="+mn-lt"/>
                <a:cs typeface="+mn-lt"/>
              </a:rPr>
              <a:t>specially selected cementitious materials and chemical admixtures, that is, super plasticizers are used, and achieving a low water–cementitious materials ratio (w/ cm) is considered essential</a:t>
            </a:r>
          </a:p>
          <a:p>
            <a:r>
              <a:rPr lang="en-US" dirty="0"/>
              <a:t>The procedure for proportioning higher grades of concrete is similar to that of the ordinary concrete. But here few additional steps are needed to be kept in mind</a:t>
            </a:r>
          </a:p>
          <a:p>
            <a:r>
              <a:rPr lang="en-US" dirty="0"/>
              <a:t>Apart from w/c ratio, water and cement content here we also use chemical admixtures and plasticizers of required amount which are to be calculated accordingly</a:t>
            </a:r>
          </a:p>
        </p:txBody>
      </p:sp>
    </p:spTree>
    <p:extLst>
      <p:ext uri="{BB962C8B-B14F-4D97-AF65-F5344CB8AC3E}">
        <p14:creationId xmlns:p14="http://schemas.microsoft.com/office/powerpoint/2010/main" val="1211357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8A1BE-0A60-6E75-84C9-971EA3EEB20F}"/>
              </a:ext>
            </a:extLst>
          </p:cNvPr>
          <p:cNvSpPr>
            <a:spLocks noGrp="1"/>
          </p:cNvSpPr>
          <p:nvPr>
            <p:ph type="title"/>
          </p:nvPr>
        </p:nvSpPr>
        <p:spPr/>
        <p:txBody>
          <a:bodyPr/>
          <a:lstStyle/>
          <a:p>
            <a:r>
              <a:rPr lang="en-US" dirty="0"/>
              <a:t>Types of concrete used in different purposes</a:t>
            </a:r>
          </a:p>
        </p:txBody>
      </p:sp>
      <p:sp>
        <p:nvSpPr>
          <p:cNvPr id="3" name="Content Placeholder 2">
            <a:extLst>
              <a:ext uri="{FF2B5EF4-FFF2-40B4-BE49-F238E27FC236}">
                <a16:creationId xmlns:a16="http://schemas.microsoft.com/office/drawing/2014/main" id="{022C5AFA-E6AA-D87D-841E-C1584A38D34C}"/>
              </a:ext>
            </a:extLst>
          </p:cNvPr>
          <p:cNvSpPr>
            <a:spLocks noGrp="1"/>
          </p:cNvSpPr>
          <p:nvPr>
            <p:ph idx="1"/>
          </p:nvPr>
        </p:nvSpPr>
        <p:spPr/>
        <p:txBody>
          <a:bodyPr vert="horz" lIns="91440" tIns="45720" rIns="91440" bIns="45720" rtlCol="0" anchor="t">
            <a:normAutofit/>
          </a:bodyPr>
          <a:lstStyle/>
          <a:p>
            <a:r>
              <a:rPr lang="en-US" dirty="0"/>
              <a:t>Higher Strength Concrete grades</a:t>
            </a:r>
          </a:p>
          <a:p>
            <a:r>
              <a:rPr lang="en-US" dirty="0"/>
              <a:t>Self-Compacting Concrete</a:t>
            </a:r>
          </a:p>
          <a:p>
            <a:r>
              <a:rPr lang="en-US" dirty="0"/>
              <a:t>Mass Concrete</a:t>
            </a:r>
          </a:p>
          <a:p>
            <a:r>
              <a:rPr lang="en-US" dirty="0"/>
              <a:t>In all these types of concrete though used for different purposes their procedure is similar with few variations in one or two steps</a:t>
            </a:r>
          </a:p>
          <a:p>
            <a:r>
              <a:rPr lang="en-US" dirty="0"/>
              <a:t>These variations corresponds to w/c ratio, size of aggregates, water content, use of admixtures and plasticizers</a:t>
            </a:r>
          </a:p>
        </p:txBody>
      </p:sp>
    </p:spTree>
    <p:extLst>
      <p:ext uri="{BB962C8B-B14F-4D97-AF65-F5344CB8AC3E}">
        <p14:creationId xmlns:p14="http://schemas.microsoft.com/office/powerpoint/2010/main" val="301735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DC62-D107-EB85-07B3-ECB0B64ED12F}"/>
              </a:ext>
            </a:extLst>
          </p:cNvPr>
          <p:cNvSpPr>
            <a:spLocks noGrp="1"/>
          </p:cNvSpPr>
          <p:nvPr>
            <p:ph type="title"/>
          </p:nvPr>
        </p:nvSpPr>
        <p:spPr/>
        <p:txBody>
          <a:bodyPr/>
          <a:lstStyle/>
          <a:p>
            <a:r>
              <a:rPr lang="en-US" dirty="0"/>
              <a:t>Types of concrete used in different purposes</a:t>
            </a:r>
          </a:p>
        </p:txBody>
      </p:sp>
      <p:sp>
        <p:nvSpPr>
          <p:cNvPr id="3" name="Content Placeholder 2">
            <a:extLst>
              <a:ext uri="{FF2B5EF4-FFF2-40B4-BE49-F238E27FC236}">
                <a16:creationId xmlns:a16="http://schemas.microsoft.com/office/drawing/2014/main" id="{8F51656C-CA0C-1B0E-BF61-2F12B60C48CC}"/>
              </a:ext>
            </a:extLst>
          </p:cNvPr>
          <p:cNvSpPr>
            <a:spLocks noGrp="1"/>
          </p:cNvSpPr>
          <p:nvPr>
            <p:ph idx="1"/>
          </p:nvPr>
        </p:nvSpPr>
        <p:spPr/>
        <p:txBody>
          <a:bodyPr vert="horz" lIns="91440" tIns="45720" rIns="91440" bIns="45720" rtlCol="0" anchor="t">
            <a:normAutofit/>
          </a:bodyPr>
          <a:lstStyle/>
          <a:p>
            <a:r>
              <a:rPr lang="en-US" dirty="0"/>
              <a:t>Higher strength concrete grades are employed in the places with harsh conditions, aggressive environments like coastal conditions, places with high chemical </a:t>
            </a:r>
            <a:r>
              <a:rPr lang="en-US" dirty="0" err="1"/>
              <a:t>activies</a:t>
            </a:r>
            <a:r>
              <a:rPr lang="en-US" dirty="0"/>
              <a:t>, etc..</a:t>
            </a:r>
          </a:p>
          <a:p>
            <a:r>
              <a:rPr lang="en-US" dirty="0"/>
              <a:t>Self-Compacting Concrete is highly flowable, non-segregating that fills uniformly and completely in the formwork due to its own weight</a:t>
            </a:r>
          </a:p>
          <a:p>
            <a:r>
              <a:rPr lang="en-US" dirty="0"/>
              <a:t>It is used in areas which are highly congested, or areas with restricted access for placement and consolidation</a:t>
            </a:r>
          </a:p>
          <a:p>
            <a:r>
              <a:rPr lang="en-US" dirty="0"/>
              <a:t>It usually have very high value of slump compared to the ordinary concrete and has higher workability</a:t>
            </a:r>
          </a:p>
          <a:p>
            <a:endParaRPr lang="en-US" dirty="0"/>
          </a:p>
        </p:txBody>
      </p:sp>
    </p:spTree>
    <p:extLst>
      <p:ext uri="{BB962C8B-B14F-4D97-AF65-F5344CB8AC3E}">
        <p14:creationId xmlns:p14="http://schemas.microsoft.com/office/powerpoint/2010/main" val="2040134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0741-A4B1-35A1-01EB-23C3285F285F}"/>
              </a:ext>
            </a:extLst>
          </p:cNvPr>
          <p:cNvSpPr>
            <a:spLocks noGrp="1"/>
          </p:cNvSpPr>
          <p:nvPr>
            <p:ph type="title"/>
          </p:nvPr>
        </p:nvSpPr>
        <p:spPr>
          <a:xfrm>
            <a:off x="838200" y="386002"/>
            <a:ext cx="10515600" cy="1325563"/>
          </a:xfrm>
        </p:spPr>
        <p:txBody>
          <a:bodyPr/>
          <a:lstStyle/>
          <a:p>
            <a:r>
              <a:rPr lang="en-US" dirty="0"/>
              <a:t>Types of concrete used in different purposes</a:t>
            </a:r>
          </a:p>
        </p:txBody>
      </p:sp>
      <p:sp>
        <p:nvSpPr>
          <p:cNvPr id="3" name="Content Placeholder 2">
            <a:extLst>
              <a:ext uri="{FF2B5EF4-FFF2-40B4-BE49-F238E27FC236}">
                <a16:creationId xmlns:a16="http://schemas.microsoft.com/office/drawing/2014/main" id="{52FE5ED3-E22A-59AE-12F6-C1EE036051D2}"/>
              </a:ext>
            </a:extLst>
          </p:cNvPr>
          <p:cNvSpPr>
            <a:spLocks noGrp="1"/>
          </p:cNvSpPr>
          <p:nvPr>
            <p:ph idx="1"/>
          </p:nvPr>
        </p:nvSpPr>
        <p:spPr/>
        <p:txBody>
          <a:bodyPr vert="horz" lIns="91440" tIns="45720" rIns="91440" bIns="45720" rtlCol="0" anchor="t">
            <a:normAutofit fontScale="92500" lnSpcReduction="10000"/>
          </a:bodyPr>
          <a:lstStyle/>
          <a:p>
            <a:r>
              <a:rPr lang="en-US" dirty="0"/>
              <a:t>On the basis of slump value it is categorized into 3 different areas with each having their individual applications based on the working site conditions</a:t>
            </a:r>
          </a:p>
          <a:p>
            <a:r>
              <a:rPr lang="en-US" dirty="0"/>
              <a:t>Mass concreting is used for heavy structures like dams, etc..</a:t>
            </a:r>
          </a:p>
          <a:p>
            <a:r>
              <a:rPr lang="en-US" dirty="0"/>
              <a:t>In these special measures need to be taken in the generation of heat from the hydration of cement </a:t>
            </a:r>
            <a:r>
              <a:rPr lang="en-US" dirty="0">
                <a:ea typeface="+mn-lt"/>
                <a:cs typeface="+mn-lt"/>
              </a:rPr>
              <a:t>and attendant volume change to minimize cracking</a:t>
            </a:r>
          </a:p>
          <a:p>
            <a:r>
              <a:rPr lang="en-US" dirty="0">
                <a:ea typeface="+mn-lt"/>
                <a:cs typeface="+mn-lt"/>
              </a:rPr>
              <a:t>The primary objective of proportioning for mass concrete is to establish economical mixes of proper strength, durability and permeability</a:t>
            </a:r>
          </a:p>
          <a:p>
            <a:r>
              <a:rPr lang="en-US" dirty="0"/>
              <a:t>In these mass concreting lower grades of concrete with higher sizes of coarse aggregates are used</a:t>
            </a:r>
          </a:p>
        </p:txBody>
      </p:sp>
    </p:spTree>
    <p:extLst>
      <p:ext uri="{BB962C8B-B14F-4D97-AF65-F5344CB8AC3E}">
        <p14:creationId xmlns:p14="http://schemas.microsoft.com/office/powerpoint/2010/main" val="3220036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EB20-7439-7C74-8DF2-8D9C925CB492}"/>
              </a:ext>
            </a:extLst>
          </p:cNvPr>
          <p:cNvSpPr>
            <a:spLocks noGrp="1"/>
          </p:cNvSpPr>
          <p:nvPr>
            <p:ph type="title"/>
          </p:nvPr>
        </p:nvSpPr>
        <p:spPr/>
        <p:txBody>
          <a:bodyPr/>
          <a:lstStyle/>
          <a:p>
            <a:r>
              <a:rPr lang="en-US" dirty="0"/>
              <a:t>Types of concrete used in different purposes</a:t>
            </a:r>
          </a:p>
        </p:txBody>
      </p:sp>
      <p:sp>
        <p:nvSpPr>
          <p:cNvPr id="3" name="Content Placeholder 2">
            <a:extLst>
              <a:ext uri="{FF2B5EF4-FFF2-40B4-BE49-F238E27FC236}">
                <a16:creationId xmlns:a16="http://schemas.microsoft.com/office/drawing/2014/main" id="{5BDFC085-18A7-E2BA-79B4-78E16E65CCD0}"/>
              </a:ext>
            </a:extLst>
          </p:cNvPr>
          <p:cNvSpPr>
            <a:spLocks noGrp="1"/>
          </p:cNvSpPr>
          <p:nvPr>
            <p:ph idx="1"/>
          </p:nvPr>
        </p:nvSpPr>
        <p:spPr/>
        <p:txBody>
          <a:bodyPr vert="horz" lIns="91440" tIns="45720" rIns="91440" bIns="45720" rtlCol="0" anchor="t">
            <a:normAutofit/>
          </a:bodyPr>
          <a:lstStyle/>
          <a:p>
            <a:r>
              <a:rPr lang="en-US" dirty="0">
                <a:ea typeface="+mn-lt"/>
                <a:cs typeface="+mn-lt"/>
              </a:rPr>
              <a:t>In certain cases, like thick raft foundation, retaining wall, etc.., mass concreting may be of higher grade of concrete</a:t>
            </a:r>
          </a:p>
          <a:p>
            <a:r>
              <a:rPr lang="en-US" dirty="0"/>
              <a:t>Certain factors are to be considered</a:t>
            </a:r>
          </a:p>
          <a:p>
            <a:r>
              <a:rPr lang="en-US">
                <a:ea typeface="+mn-lt"/>
                <a:cs typeface="+mn-lt"/>
              </a:rPr>
              <a:t>The water requirement may change</a:t>
            </a:r>
            <a:endParaRPr lang="en-US" dirty="0">
              <a:ea typeface="+mn-lt"/>
              <a:cs typeface="+mn-lt"/>
            </a:endParaRPr>
          </a:p>
          <a:p>
            <a:r>
              <a:rPr lang="en-US" dirty="0">
                <a:ea typeface="+mn-lt"/>
                <a:cs typeface="+mn-lt"/>
              </a:rPr>
              <a:t>Early age strength may </a:t>
            </a:r>
            <a:r>
              <a:rPr lang="en-US">
                <a:ea typeface="+mn-lt"/>
                <a:cs typeface="+mn-lt"/>
              </a:rPr>
              <a:t>become critical, and</a:t>
            </a:r>
          </a:p>
          <a:p>
            <a:r>
              <a:rPr lang="en-US" dirty="0">
                <a:ea typeface="+mn-lt"/>
                <a:cs typeface="+mn-lt"/>
              </a:rPr>
              <a:t>For maximum economy, the age at which design strength is attained should be greater</a:t>
            </a:r>
            <a:endParaRPr lang="en-US"/>
          </a:p>
        </p:txBody>
      </p:sp>
    </p:spTree>
    <p:extLst>
      <p:ext uri="{BB962C8B-B14F-4D97-AF65-F5344CB8AC3E}">
        <p14:creationId xmlns:p14="http://schemas.microsoft.com/office/powerpoint/2010/main" val="2205159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08E5-DE4F-B45B-1DFD-5FB1B8058BA2}"/>
              </a:ext>
            </a:extLst>
          </p:cNvPr>
          <p:cNvSpPr>
            <a:spLocks noGrp="1"/>
          </p:cNvSpPr>
          <p:nvPr>
            <p:ph type="title"/>
          </p:nvPr>
        </p:nvSpPr>
        <p:spPr/>
        <p:txBody>
          <a:bodyPr/>
          <a:lstStyle/>
          <a:p>
            <a:r>
              <a:rPr lang="en-US" dirty="0"/>
              <a:t>References</a:t>
            </a:r>
          </a:p>
        </p:txBody>
      </p:sp>
      <p:graphicFrame>
        <p:nvGraphicFramePr>
          <p:cNvPr id="4" name="Content Placeholder 3">
            <a:extLst>
              <a:ext uri="{FF2B5EF4-FFF2-40B4-BE49-F238E27FC236}">
                <a16:creationId xmlns:a16="http://schemas.microsoft.com/office/drawing/2014/main" id="{39345194-E315-9763-7F5A-CA7D808C0555}"/>
              </a:ext>
            </a:extLst>
          </p:cNvPr>
          <p:cNvGraphicFramePr>
            <a:graphicFrameLocks noGrp="1"/>
          </p:cNvGraphicFramePr>
          <p:nvPr>
            <p:ph idx="1"/>
            <p:extLst>
              <p:ext uri="{D42A27DB-BD31-4B8C-83A1-F6EECF244321}">
                <p14:modId xmlns:p14="http://schemas.microsoft.com/office/powerpoint/2010/main" val="1431322655"/>
              </p:ext>
            </p:extLst>
          </p:nvPr>
        </p:nvGraphicFramePr>
        <p:xfrm>
          <a:off x="838200" y="1825625"/>
          <a:ext cx="10515600" cy="37795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67056324"/>
                    </a:ext>
                  </a:extLst>
                </a:gridCol>
                <a:gridCol w="5257800">
                  <a:extLst>
                    <a:ext uri="{9D8B030D-6E8A-4147-A177-3AD203B41FA5}">
                      <a16:colId xmlns:a16="http://schemas.microsoft.com/office/drawing/2014/main" val="2016757316"/>
                    </a:ext>
                  </a:extLst>
                </a:gridCol>
              </a:tblGrid>
              <a:tr h="370840">
                <a:tc>
                  <a:txBody>
                    <a:bodyPr/>
                    <a:lstStyle/>
                    <a:p>
                      <a:r>
                        <a:rPr lang="en-US" dirty="0"/>
                        <a:t>IS No.</a:t>
                      </a:r>
                    </a:p>
                  </a:txBody>
                  <a:tcPr/>
                </a:tc>
                <a:tc>
                  <a:txBody>
                    <a:bodyPr/>
                    <a:lstStyle/>
                    <a:p>
                      <a:r>
                        <a:rPr lang="en-US" dirty="0"/>
                        <a:t>Title</a:t>
                      </a:r>
                    </a:p>
                  </a:txBody>
                  <a:tcPr/>
                </a:tc>
                <a:extLst>
                  <a:ext uri="{0D108BD9-81ED-4DB2-BD59-A6C34878D82A}">
                    <a16:rowId xmlns:a16="http://schemas.microsoft.com/office/drawing/2014/main" val="614333971"/>
                  </a:ext>
                </a:extLst>
              </a:tr>
              <a:tr h="370840">
                <a:tc>
                  <a:txBody>
                    <a:bodyPr/>
                    <a:lstStyle/>
                    <a:p>
                      <a:pPr lvl="0">
                        <a:buNone/>
                      </a:pPr>
                      <a:r>
                        <a:rPr lang="en-US" sz="1800" b="0" i="0" u="none" strike="noStrike" noProof="0" dirty="0">
                          <a:latin typeface="Aptos"/>
                        </a:rPr>
                        <a:t>269 : 2015</a:t>
                      </a:r>
                      <a:endParaRPr lang="en-US" dirty="0"/>
                    </a:p>
                  </a:txBody>
                  <a:tcPr/>
                </a:tc>
                <a:tc>
                  <a:txBody>
                    <a:bodyPr/>
                    <a:lstStyle/>
                    <a:p>
                      <a:pPr lvl="0">
                        <a:buNone/>
                      </a:pPr>
                      <a:r>
                        <a:rPr lang="en-US" sz="1800" b="0" i="0" u="none" strike="noStrike" noProof="0" dirty="0">
                          <a:latin typeface="Aptos"/>
                        </a:rPr>
                        <a:t>Specification for ordinary Portland cement </a:t>
                      </a:r>
                    </a:p>
                  </a:txBody>
                  <a:tcPr/>
                </a:tc>
                <a:extLst>
                  <a:ext uri="{0D108BD9-81ED-4DB2-BD59-A6C34878D82A}">
                    <a16:rowId xmlns:a16="http://schemas.microsoft.com/office/drawing/2014/main" val="2212844402"/>
                  </a:ext>
                </a:extLst>
              </a:tr>
              <a:tr h="370840">
                <a:tc>
                  <a:txBody>
                    <a:bodyPr/>
                    <a:lstStyle/>
                    <a:p>
                      <a:pPr lvl="0">
                        <a:buNone/>
                      </a:pPr>
                      <a:r>
                        <a:rPr lang="en-US" sz="1800" b="0" i="0" u="none" strike="noStrike" noProof="0" dirty="0">
                          <a:latin typeface="Aptos"/>
                        </a:rPr>
                        <a:t>383 : 2016</a:t>
                      </a:r>
                      <a:endParaRPr lang="en-US" dirty="0"/>
                    </a:p>
                  </a:txBody>
                  <a:tcP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Aptos"/>
                        </a:rPr>
                        <a:t>Specification for coarse and fine aggregates for concrete </a:t>
                      </a:r>
                    </a:p>
                  </a:txBody>
                  <a:tcPr/>
                </a:tc>
                <a:extLst>
                  <a:ext uri="{0D108BD9-81ED-4DB2-BD59-A6C34878D82A}">
                    <a16:rowId xmlns:a16="http://schemas.microsoft.com/office/drawing/2014/main" val="3714400322"/>
                  </a:ext>
                </a:extLst>
              </a:tr>
              <a:tr h="370840">
                <a:tc>
                  <a:txBody>
                    <a:bodyPr/>
                    <a:lstStyle/>
                    <a:p>
                      <a:pPr lvl="0">
                        <a:buNone/>
                      </a:pPr>
                      <a:r>
                        <a:rPr lang="en-US" sz="1800" b="0" i="0" u="none" strike="noStrike" noProof="0" dirty="0">
                          <a:latin typeface="Aptos"/>
                        </a:rPr>
                        <a:t>456 : 2000</a:t>
                      </a:r>
                      <a:endParaRPr lang="en-US" dirty="0"/>
                    </a:p>
                  </a:txBody>
                  <a:tcPr/>
                </a:tc>
                <a:tc>
                  <a:txBody>
                    <a:bodyPr/>
                    <a:lstStyle/>
                    <a:p>
                      <a:pPr lvl="0">
                        <a:buNone/>
                      </a:pPr>
                      <a:r>
                        <a:rPr lang="en-US" sz="1800" b="0" i="0" u="none" strike="noStrike" noProof="0" dirty="0">
                          <a:latin typeface="Aptos"/>
                        </a:rPr>
                        <a:t>Code of practice for plain and reinforced concrete</a:t>
                      </a:r>
                      <a:endParaRPr lang="en-US" dirty="0"/>
                    </a:p>
                  </a:txBody>
                  <a:tcPr/>
                </a:tc>
                <a:extLst>
                  <a:ext uri="{0D108BD9-81ED-4DB2-BD59-A6C34878D82A}">
                    <a16:rowId xmlns:a16="http://schemas.microsoft.com/office/drawing/2014/main" val="2135223887"/>
                  </a:ext>
                </a:extLst>
              </a:tr>
              <a:tr h="370840">
                <a:tc>
                  <a:txBody>
                    <a:bodyPr/>
                    <a:lstStyle/>
                    <a:p>
                      <a:pPr lvl="0">
                        <a:buNone/>
                      </a:pPr>
                      <a:r>
                        <a:rPr lang="en-US" sz="1800" b="0" i="0" u="none" strike="noStrike" noProof="0" dirty="0">
                          <a:latin typeface="Aptos"/>
                        </a:rPr>
                        <a:t>1199 (Part 6) : 2018</a:t>
                      </a:r>
                      <a:endParaRPr lang="en-US" dirty="0"/>
                    </a:p>
                  </a:txBody>
                  <a:tcPr/>
                </a:tc>
                <a:tc>
                  <a:txBody>
                    <a:bodyPr/>
                    <a:lstStyle/>
                    <a:p>
                      <a:pPr lvl="0">
                        <a:buNone/>
                      </a:pPr>
                      <a:r>
                        <a:rPr lang="en-US" sz="1800" b="0" i="0" u="none" strike="noStrike" noProof="0" dirty="0">
                          <a:latin typeface="Aptos"/>
                        </a:rPr>
                        <a:t>Fresh concrete — Methods of sampling, testing and analysis: Part 6 Tests on fresh self compacting concrete </a:t>
                      </a:r>
                      <a:endParaRPr lang="en-US" dirty="0"/>
                    </a:p>
                  </a:txBody>
                  <a:tcPr/>
                </a:tc>
                <a:extLst>
                  <a:ext uri="{0D108BD9-81ED-4DB2-BD59-A6C34878D82A}">
                    <a16:rowId xmlns:a16="http://schemas.microsoft.com/office/drawing/2014/main" val="3698049225"/>
                  </a:ext>
                </a:extLst>
              </a:tr>
              <a:tr h="370840">
                <a:tc>
                  <a:txBody>
                    <a:bodyPr/>
                    <a:lstStyle/>
                    <a:p>
                      <a:pPr lvl="0">
                        <a:buNone/>
                      </a:pPr>
                      <a:r>
                        <a:rPr lang="en-US" sz="1800" b="0" i="0" u="none" strike="noStrike" noProof="0" dirty="0">
                          <a:latin typeface="Aptos"/>
                        </a:rPr>
                        <a:t>1489</a:t>
                      </a:r>
                      <a:endParaRPr lang="en-US" dirty="0"/>
                    </a:p>
                  </a:txBody>
                  <a:tcPr/>
                </a:tc>
                <a:tc>
                  <a:txBody>
                    <a:bodyPr/>
                    <a:lstStyle/>
                    <a:p>
                      <a:pPr lvl="0">
                        <a:buNone/>
                      </a:pPr>
                      <a:r>
                        <a:rPr lang="en-US" sz="1800" b="0" i="0" u="none" strike="noStrike" noProof="0" dirty="0">
                          <a:latin typeface="Aptos"/>
                        </a:rPr>
                        <a:t>Specification for Portland pozzolana cement</a:t>
                      </a:r>
                      <a:endParaRPr lang="en-US" dirty="0"/>
                    </a:p>
                  </a:txBody>
                  <a:tcPr/>
                </a:tc>
                <a:extLst>
                  <a:ext uri="{0D108BD9-81ED-4DB2-BD59-A6C34878D82A}">
                    <a16:rowId xmlns:a16="http://schemas.microsoft.com/office/drawing/2014/main" val="3941210641"/>
                  </a:ext>
                </a:extLst>
              </a:tr>
              <a:tr h="370840">
                <a:tc>
                  <a:txBody>
                    <a:bodyPr/>
                    <a:lstStyle/>
                    <a:p>
                      <a:pPr lvl="0">
                        <a:buNone/>
                      </a:pPr>
                      <a:r>
                        <a:rPr lang="en-US" sz="1800" b="0" i="0" u="none" strike="noStrike" noProof="0" dirty="0">
                          <a:latin typeface="Aptos"/>
                        </a:rPr>
                        <a:t>(Part 1) : 2015</a:t>
                      </a:r>
                      <a:endParaRPr lang="en-US" dirty="0"/>
                    </a:p>
                  </a:txBody>
                  <a:tcPr/>
                </a:tc>
                <a:tc>
                  <a:txBody>
                    <a:bodyPr/>
                    <a:lstStyle/>
                    <a:p>
                      <a:pPr lvl="0">
                        <a:buNone/>
                      </a:pPr>
                      <a:r>
                        <a:rPr lang="en-US" sz="1800" b="0" i="0" u="none" strike="noStrike" noProof="0" dirty="0">
                          <a:latin typeface="Aptos"/>
                        </a:rPr>
                        <a:t>Fly ash based</a:t>
                      </a:r>
                      <a:endParaRPr lang="en-US" dirty="0"/>
                    </a:p>
                  </a:txBody>
                  <a:tcPr/>
                </a:tc>
                <a:extLst>
                  <a:ext uri="{0D108BD9-81ED-4DB2-BD59-A6C34878D82A}">
                    <a16:rowId xmlns:a16="http://schemas.microsoft.com/office/drawing/2014/main" val="1643204898"/>
                  </a:ext>
                </a:extLst>
              </a:tr>
              <a:tr h="370840">
                <a:tc>
                  <a:txBody>
                    <a:bodyPr/>
                    <a:lstStyle/>
                    <a:p>
                      <a:pPr lvl="0">
                        <a:buNone/>
                      </a:pPr>
                      <a:r>
                        <a:rPr lang="en-US" sz="1800" b="0" i="0" u="none" strike="noStrike" noProof="0" dirty="0">
                          <a:latin typeface="Aptos"/>
                        </a:rPr>
                        <a:t>(Part 2) : 2015</a:t>
                      </a:r>
                      <a:endParaRPr lang="en-US" dirty="0"/>
                    </a:p>
                  </a:txBody>
                  <a:tcPr/>
                </a:tc>
                <a:tc>
                  <a:txBody>
                    <a:bodyPr/>
                    <a:lstStyle/>
                    <a:p>
                      <a:pPr lvl="0">
                        <a:buNone/>
                      </a:pPr>
                      <a:r>
                        <a:rPr lang="en-US" sz="1800" b="0" i="0" u="none" strike="noStrike" noProof="0" dirty="0">
                          <a:latin typeface="Aptos"/>
                        </a:rPr>
                        <a:t>Calcined clay based</a:t>
                      </a:r>
                      <a:endParaRPr lang="en-US" dirty="0"/>
                    </a:p>
                  </a:txBody>
                  <a:tcPr/>
                </a:tc>
                <a:extLst>
                  <a:ext uri="{0D108BD9-81ED-4DB2-BD59-A6C34878D82A}">
                    <a16:rowId xmlns:a16="http://schemas.microsoft.com/office/drawing/2014/main" val="3102877787"/>
                  </a:ext>
                </a:extLst>
              </a:tr>
            </a:tbl>
          </a:graphicData>
        </a:graphic>
      </p:graphicFrame>
    </p:spTree>
    <p:extLst>
      <p:ext uri="{BB962C8B-B14F-4D97-AF65-F5344CB8AC3E}">
        <p14:creationId xmlns:p14="http://schemas.microsoft.com/office/powerpoint/2010/main" val="3489401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71DDF-7542-14F1-3CE2-D2140A0BDA13}"/>
              </a:ext>
            </a:extLst>
          </p:cNvPr>
          <p:cNvSpPr>
            <a:spLocks noGrp="1"/>
          </p:cNvSpPr>
          <p:nvPr>
            <p:ph type="title"/>
          </p:nvPr>
        </p:nvSpPr>
        <p:spPr/>
        <p:txBody>
          <a:bodyPr/>
          <a:lstStyle/>
          <a:p>
            <a:r>
              <a:rPr lang="en-US" dirty="0"/>
              <a:t>References</a:t>
            </a:r>
          </a:p>
        </p:txBody>
      </p:sp>
      <p:graphicFrame>
        <p:nvGraphicFramePr>
          <p:cNvPr id="4" name="Content Placeholder 3">
            <a:extLst>
              <a:ext uri="{FF2B5EF4-FFF2-40B4-BE49-F238E27FC236}">
                <a16:creationId xmlns:a16="http://schemas.microsoft.com/office/drawing/2014/main" id="{FB6DE9D8-A8CE-E486-D9DC-C27C81CE94EB}"/>
              </a:ext>
            </a:extLst>
          </p:cNvPr>
          <p:cNvGraphicFramePr>
            <a:graphicFrameLocks noGrp="1"/>
          </p:cNvGraphicFramePr>
          <p:nvPr>
            <p:ph idx="1"/>
            <p:extLst>
              <p:ext uri="{D42A27DB-BD31-4B8C-83A1-F6EECF244321}">
                <p14:modId xmlns:p14="http://schemas.microsoft.com/office/powerpoint/2010/main" val="2338909393"/>
              </p:ext>
            </p:extLst>
          </p:nvPr>
        </p:nvGraphicFramePr>
        <p:xfrm>
          <a:off x="838200" y="1825625"/>
          <a:ext cx="10515600" cy="3307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63275358"/>
                    </a:ext>
                  </a:extLst>
                </a:gridCol>
                <a:gridCol w="5257800">
                  <a:extLst>
                    <a:ext uri="{9D8B030D-6E8A-4147-A177-3AD203B41FA5}">
                      <a16:colId xmlns:a16="http://schemas.microsoft.com/office/drawing/2014/main" val="690170205"/>
                    </a:ext>
                  </a:extLst>
                </a:gridCol>
              </a:tblGrid>
              <a:tr h="370840">
                <a:tc>
                  <a:txBody>
                    <a:bodyPr/>
                    <a:lstStyle/>
                    <a:p>
                      <a:pPr lvl="0" algn="l">
                        <a:lnSpc>
                          <a:spcPct val="100000"/>
                        </a:lnSpc>
                        <a:spcBef>
                          <a:spcPts val="0"/>
                        </a:spcBef>
                        <a:spcAft>
                          <a:spcPts val="0"/>
                        </a:spcAft>
                        <a:buNone/>
                      </a:pPr>
                      <a:r>
                        <a:rPr lang="en-US" sz="1800" b="1" i="0" u="none" strike="noStrike" noProof="0" dirty="0">
                          <a:solidFill>
                            <a:srgbClr val="FFFFFF"/>
                          </a:solidFill>
                          <a:latin typeface="Aptos"/>
                        </a:rPr>
                        <a:t>IS No.</a:t>
                      </a:r>
                    </a:p>
                  </a:txBody>
                  <a:tcPr/>
                </a:tc>
                <a:tc>
                  <a:txBody>
                    <a:bodyPr/>
                    <a:lstStyle/>
                    <a:p>
                      <a:pPr lvl="0">
                        <a:buNone/>
                      </a:pPr>
                      <a:r>
                        <a:rPr lang="en-US" sz="1800" b="1" i="0" u="none" strike="noStrike" noProof="0" dirty="0">
                          <a:solidFill>
                            <a:srgbClr val="FFFFFF"/>
                          </a:solidFill>
                          <a:latin typeface="Aptos"/>
                        </a:rPr>
                        <a:t>Title</a:t>
                      </a:r>
                      <a:endParaRPr lang="en-US" dirty="0"/>
                    </a:p>
                  </a:txBody>
                  <a:tcPr/>
                </a:tc>
                <a:extLst>
                  <a:ext uri="{0D108BD9-81ED-4DB2-BD59-A6C34878D82A}">
                    <a16:rowId xmlns:a16="http://schemas.microsoft.com/office/drawing/2014/main" val="475936668"/>
                  </a:ext>
                </a:extLst>
              </a:tr>
              <a:tr h="370840">
                <a:tc>
                  <a:txBody>
                    <a:bodyPr/>
                    <a:lstStyle/>
                    <a:p>
                      <a:pPr lvl="0">
                        <a:buNone/>
                      </a:pPr>
                      <a:r>
                        <a:rPr lang="en-US" sz="1800" b="0" i="0" u="none" strike="noStrike" noProof="0" dirty="0">
                          <a:latin typeface="Aptos"/>
                        </a:rPr>
                        <a:t>2386 (Part 3) : 1963</a:t>
                      </a:r>
                      <a:endParaRPr lang="en-US" dirty="0"/>
                    </a:p>
                  </a:txBody>
                  <a:tcPr/>
                </a:tc>
                <a:tc>
                  <a:txBody>
                    <a:bodyPr/>
                    <a:lstStyle/>
                    <a:p>
                      <a:pPr lvl="0">
                        <a:buNone/>
                      </a:pPr>
                      <a:r>
                        <a:rPr lang="en-US" sz="1800" b="0" i="0" u="none" strike="noStrike" noProof="0" dirty="0">
                          <a:latin typeface="Aptos"/>
                        </a:rPr>
                        <a:t>Methods of test for aggregates for concrete: Part 3 Specific gravity, voids, absorption and bulking</a:t>
                      </a:r>
                      <a:endParaRPr lang="en-US" dirty="0"/>
                    </a:p>
                  </a:txBody>
                  <a:tcPr/>
                </a:tc>
                <a:extLst>
                  <a:ext uri="{0D108BD9-81ED-4DB2-BD59-A6C34878D82A}">
                    <a16:rowId xmlns:a16="http://schemas.microsoft.com/office/drawing/2014/main" val="2687064095"/>
                  </a:ext>
                </a:extLst>
              </a:tr>
              <a:tr h="370840">
                <a:tc>
                  <a:txBody>
                    <a:bodyPr/>
                    <a:lstStyle/>
                    <a:p>
                      <a:pPr lvl="0">
                        <a:buNone/>
                      </a:pPr>
                      <a:r>
                        <a:rPr lang="en-US" sz="1800" b="0" i="0" u="none" strike="noStrike" noProof="0" dirty="0">
                          <a:latin typeface="Aptos"/>
                        </a:rPr>
                        <a:t>3812 (Part 1) : 2013</a:t>
                      </a:r>
                      <a:endParaRPr lang="en-US" dirty="0"/>
                    </a:p>
                  </a:txBody>
                  <a:tcPr/>
                </a:tc>
                <a:tc>
                  <a:txBody>
                    <a:bodyPr/>
                    <a:lstStyle/>
                    <a:p>
                      <a:pPr lvl="0">
                        <a:buNone/>
                      </a:pPr>
                      <a:r>
                        <a:rPr lang="en-US" sz="1800" b="0" i="0" u="none" strike="noStrike" noProof="0" dirty="0">
                          <a:latin typeface="Aptos"/>
                        </a:rPr>
                        <a:t>Specification for pulverized fuel </a:t>
                      </a:r>
                      <a:r>
                        <a:rPr lang="en-US" sz="1800" b="0" i="0" u="none" strike="noStrike" noProof="0" dirty="0"/>
                        <a:t>ash: Part 1 For use as pozzolana in cement, cement mortar and concrete </a:t>
                      </a:r>
                      <a:endParaRPr lang="en-US" dirty="0"/>
                    </a:p>
                  </a:txBody>
                  <a:tcPr/>
                </a:tc>
                <a:extLst>
                  <a:ext uri="{0D108BD9-81ED-4DB2-BD59-A6C34878D82A}">
                    <a16:rowId xmlns:a16="http://schemas.microsoft.com/office/drawing/2014/main" val="3034161160"/>
                  </a:ext>
                </a:extLst>
              </a:tr>
              <a:tr h="370840">
                <a:tc>
                  <a:txBody>
                    <a:bodyPr/>
                    <a:lstStyle/>
                    <a:p>
                      <a:pPr lvl="0">
                        <a:buNone/>
                      </a:pPr>
                      <a:r>
                        <a:rPr lang="en-US" sz="1800" b="0" i="0" u="none" strike="noStrike" noProof="0" dirty="0">
                          <a:latin typeface="Aptos"/>
                        </a:rPr>
                        <a:t>9103 : 1999</a:t>
                      </a:r>
                      <a:endParaRPr lang="en-US" dirty="0"/>
                    </a:p>
                  </a:txBody>
                  <a:tcPr/>
                </a:tc>
                <a:tc>
                  <a:txBody>
                    <a:bodyPr/>
                    <a:lstStyle/>
                    <a:p>
                      <a:pPr lvl="0">
                        <a:buNone/>
                      </a:pPr>
                      <a:r>
                        <a:rPr lang="en-US" sz="1800" b="0" i="0" u="none" strike="noStrike" noProof="0" dirty="0">
                          <a:latin typeface="Aptos"/>
                        </a:rPr>
                        <a:t>Specification for admixtures for concrete </a:t>
                      </a:r>
                      <a:endParaRPr lang="en-US" dirty="0"/>
                    </a:p>
                  </a:txBody>
                  <a:tcPr/>
                </a:tc>
                <a:extLst>
                  <a:ext uri="{0D108BD9-81ED-4DB2-BD59-A6C34878D82A}">
                    <a16:rowId xmlns:a16="http://schemas.microsoft.com/office/drawing/2014/main" val="53027518"/>
                  </a:ext>
                </a:extLst>
              </a:tr>
              <a:tr h="370840">
                <a:tc>
                  <a:txBody>
                    <a:bodyPr/>
                    <a:lstStyle/>
                    <a:p>
                      <a:pPr lvl="0">
                        <a:buNone/>
                      </a:pPr>
                      <a:r>
                        <a:rPr lang="en-US" sz="1800" b="0" i="0" u="none" strike="noStrike" noProof="0" dirty="0">
                          <a:latin typeface="Aptos"/>
                        </a:rPr>
                        <a:t>15388 : 2003</a:t>
                      </a:r>
                      <a:endParaRPr lang="en-US" dirty="0"/>
                    </a:p>
                  </a:txBody>
                  <a:tcPr/>
                </a:tc>
                <a:tc>
                  <a:txBody>
                    <a:bodyPr/>
                    <a:lstStyle/>
                    <a:p>
                      <a:pPr lvl="0">
                        <a:buNone/>
                      </a:pPr>
                      <a:r>
                        <a:rPr lang="en-US" sz="1800" b="0" i="0" u="none" strike="noStrike" noProof="0" dirty="0">
                          <a:latin typeface="Aptos"/>
                        </a:rPr>
                        <a:t>Specification for silica fume</a:t>
                      </a:r>
                      <a:endParaRPr lang="en-US" dirty="0"/>
                    </a:p>
                  </a:txBody>
                  <a:tcPr/>
                </a:tc>
                <a:extLst>
                  <a:ext uri="{0D108BD9-81ED-4DB2-BD59-A6C34878D82A}">
                    <a16:rowId xmlns:a16="http://schemas.microsoft.com/office/drawing/2014/main" val="2132842869"/>
                  </a:ext>
                </a:extLst>
              </a:tr>
              <a:tr h="370840">
                <a:tc>
                  <a:txBody>
                    <a:bodyPr/>
                    <a:lstStyle/>
                    <a:p>
                      <a:pPr lvl="0">
                        <a:buNone/>
                      </a:pPr>
                      <a:r>
                        <a:rPr lang="en-US" sz="1800" b="0" i="0" u="none" strike="noStrike" noProof="0" dirty="0">
                          <a:latin typeface="Aptos"/>
                        </a:rPr>
                        <a:t>16714 : 2018</a:t>
                      </a:r>
                      <a:endParaRPr lang="en-US" dirty="0"/>
                    </a:p>
                  </a:txBody>
                  <a:tcPr/>
                </a:tc>
                <a:tc>
                  <a:txBody>
                    <a:bodyPr/>
                    <a:lstStyle/>
                    <a:p>
                      <a:pPr lvl="0">
                        <a:buNone/>
                      </a:pPr>
                      <a:r>
                        <a:rPr lang="en-US" sz="1800" b="0" i="0" u="none" strike="noStrike" noProof="0" dirty="0">
                          <a:latin typeface="Aptos"/>
                        </a:rPr>
                        <a:t>Ground granulated blast furnace slag for use in cement, mortar and concrete — Specification</a:t>
                      </a:r>
                      <a:endParaRPr lang="en-US" dirty="0"/>
                    </a:p>
                  </a:txBody>
                  <a:tcPr/>
                </a:tc>
                <a:extLst>
                  <a:ext uri="{0D108BD9-81ED-4DB2-BD59-A6C34878D82A}">
                    <a16:rowId xmlns:a16="http://schemas.microsoft.com/office/drawing/2014/main" val="2746508185"/>
                  </a:ext>
                </a:extLst>
              </a:tr>
            </a:tbl>
          </a:graphicData>
        </a:graphic>
      </p:graphicFrame>
    </p:spTree>
    <p:extLst>
      <p:ext uri="{BB962C8B-B14F-4D97-AF65-F5344CB8AC3E}">
        <p14:creationId xmlns:p14="http://schemas.microsoft.com/office/powerpoint/2010/main" val="3665781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67C12-F05D-E78A-0ACD-2B022300C07D}"/>
              </a:ext>
            </a:extLst>
          </p:cNvPr>
          <p:cNvSpPr>
            <a:spLocks noGrp="1"/>
          </p:cNvSpPr>
          <p:nvPr>
            <p:ph type="title"/>
          </p:nvPr>
        </p:nvSpPr>
        <p:spPr/>
        <p:txBody>
          <a:bodyPr>
            <a:normAutofit fontScale="90000"/>
          </a:bodyPr>
          <a:lstStyle/>
          <a:p>
            <a:r>
              <a:rPr lang="en-US" sz="6000" b="1" dirty="0"/>
              <a:t>                       </a:t>
            </a:r>
            <a:br>
              <a:rPr lang="en-US" sz="6000" b="1" dirty="0"/>
            </a:br>
            <a:br>
              <a:rPr lang="en-US" sz="6000" b="1" dirty="0"/>
            </a:br>
            <a:br>
              <a:rPr lang="en-US" sz="6000" b="1" dirty="0"/>
            </a:br>
            <a:br>
              <a:rPr lang="en-US" sz="6000" b="1" dirty="0"/>
            </a:br>
            <a:br>
              <a:rPr lang="en-US" sz="6000" b="1" dirty="0"/>
            </a:br>
            <a:br>
              <a:rPr lang="en-US" sz="6000" b="1" dirty="0"/>
            </a:br>
            <a:r>
              <a:rPr lang="en-US" sz="6000" b="1" dirty="0"/>
              <a:t>                           Thank You</a:t>
            </a:r>
            <a:endParaRPr lang="en-US" dirty="0"/>
          </a:p>
        </p:txBody>
      </p:sp>
    </p:spTree>
    <p:extLst>
      <p:ext uri="{BB962C8B-B14F-4D97-AF65-F5344CB8AC3E}">
        <p14:creationId xmlns:p14="http://schemas.microsoft.com/office/powerpoint/2010/main" val="538316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MIX DESIGN OF CONCRETE</vt:lpstr>
      <vt:lpstr>Concrete Mix Design</vt:lpstr>
      <vt:lpstr>Concrete Mis Design</vt:lpstr>
      <vt:lpstr>Grades of Concrete</vt:lpstr>
      <vt:lpstr>M 20 Concrete</vt:lpstr>
      <vt:lpstr>Important Terminology</vt:lpstr>
      <vt:lpstr>Target Strength for Mix Proportioning </vt:lpstr>
      <vt:lpstr>Ordinary and Standard Grades of Concrete</vt:lpstr>
      <vt:lpstr>Free water cement ratio</vt:lpstr>
      <vt:lpstr>Selection of Mix Proportions</vt:lpstr>
      <vt:lpstr>Selection of Mix Proportions</vt:lpstr>
      <vt:lpstr>Selection of Mix Proportions</vt:lpstr>
      <vt:lpstr>Selection of Mix Proportions</vt:lpstr>
      <vt:lpstr>Selection of Mix Proportions</vt:lpstr>
      <vt:lpstr>Selection of Mix Proportions</vt:lpstr>
      <vt:lpstr>Selection of Mix Proportions</vt:lpstr>
      <vt:lpstr>Selection of Mix Proportions</vt:lpstr>
      <vt:lpstr>Types of concrete used in different purposes</vt:lpstr>
      <vt:lpstr>Types of concrete used in different purposes</vt:lpstr>
      <vt:lpstr>Types of concrete used in different purposes</vt:lpstr>
      <vt:lpstr>Types of concrete used in different purposes</vt:lpstr>
      <vt:lpstr>References</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522</cp:revision>
  <dcterms:created xsi:type="dcterms:W3CDTF">2024-10-07T15:02:07Z</dcterms:created>
  <dcterms:modified xsi:type="dcterms:W3CDTF">2024-10-08T09:09:30Z</dcterms:modified>
</cp:coreProperties>
</file>