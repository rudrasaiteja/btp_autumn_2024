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72" r:id="rId9"/>
    <p:sldId id="264" r:id="rId10"/>
    <p:sldId id="276" r:id="rId11"/>
    <p:sldId id="277" r:id="rId12"/>
    <p:sldId id="278" r:id="rId13"/>
    <p:sldId id="263" r:id="rId14"/>
    <p:sldId id="265" r:id="rId15"/>
    <p:sldId id="274" r:id="rId16"/>
    <p:sldId id="267" r:id="rId17"/>
    <p:sldId id="268" r:id="rId18"/>
    <p:sldId id="262" r:id="rId19"/>
    <p:sldId id="261" r:id="rId20"/>
    <p:sldId id="266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9453-3393-70AB-30B9-33BF1D4CE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69C24-A365-6DBD-56F4-8139EB7CC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C6CEA-8D7A-1B3A-9A09-B476E9C94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5FEB-B537-4E56-AF82-028F52AFC168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33AF1-D0D4-BD68-FCCD-EE54A9EA7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FE181-BD12-C5F8-E05C-658E5384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BD5DC-E139-42D9-BB0F-182DEF2F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823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39B4A-D87E-368B-FC56-10C560935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10207-1357-83B9-FDEB-EE8CD148F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96C7E-12B4-6089-63D2-766F6563C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5FEB-B537-4E56-AF82-028F52AFC168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E2538-4DAC-1B3C-4265-9FE5262E9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4C751-F39C-B38B-C16E-C2E424D0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BD5DC-E139-42D9-BB0F-182DEF2F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75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F817B-35E2-CF50-275D-6C2C71ED4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996E3-E2A1-3937-C2B9-028A7351A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DAC4B-38F0-D23D-054B-604952905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5FEB-B537-4E56-AF82-028F52AFC168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9DBF8-F19F-7C9B-5ABC-E3E330B03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93F24-0D72-8FE4-8932-7150ABACC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BD5DC-E139-42D9-BB0F-182DEF2F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26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3D10-3152-49F7-F309-B75F8E6B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D6DB2-17E6-3618-EB68-A470B2391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4CD02-2C23-3B02-1C8E-4B439443C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E94E2-C2FA-283D-BC20-460EBFD94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5FEB-B537-4E56-AF82-028F52AFC168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51C84-0285-CF83-B2E4-222F7DA9E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C1B7C-79C0-7AEC-15F7-6B141C76E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BD5DC-E139-42D9-BB0F-182DEF2F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62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09D4D-4C75-CC75-DDA5-DF3B0E979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24CC9-3E0D-55D0-1B75-B7641D58B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A4712A-E0C7-6111-2D16-C14C3151D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66605-A2F3-405A-AC81-78C6A0F4B1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820DC9-F272-D2EB-DB1E-E006B6F7B5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93B301-513C-826B-91C2-38D1EC5AD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5FEB-B537-4E56-AF82-028F52AFC168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49C663-E9D7-BB80-044E-EF23B8F32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CB6FA3-1761-494A-9E10-8C5555746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BD5DC-E139-42D9-BB0F-182DEF2F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647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A9A1-36D3-C425-7E8B-8FD4E79BD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E538B0-E615-F58F-FC69-D4CF4E789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5FEB-B537-4E56-AF82-028F52AFC168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20747-F505-49D8-3A03-BA17369F4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E48A51-8BD9-C1AC-D2DA-F75DC3209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BD5DC-E139-42D9-BB0F-182DEF2F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73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E666D1-B6F5-DF71-5D36-BC98EF979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5FEB-B537-4E56-AF82-028F52AFC168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F9CE3F-37A3-BBB7-471F-32126CA3E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F7C08-32AA-901A-6F5D-7CAF4C53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BD5DC-E139-42D9-BB0F-182DEF2F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708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0CF50-BE08-37B5-023E-038B59A19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C70AF-7934-D255-830C-55B49A7D5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C68D3-9501-0431-AB39-446E12B4C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B89BA-41BA-EAC2-2466-5A268BFE5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5FEB-B537-4E56-AF82-028F52AFC168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A13A7-79DC-6C43-9D42-F12C7CD94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6CF20-05EC-E525-2ABD-084C3EBB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BD5DC-E139-42D9-BB0F-182DEF2F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054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AA79C-2A06-D780-ECFA-FABB9B0C7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0040EC-9964-7F2C-4AD5-27ADF5C92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40BEB-9CC9-315B-6CE2-DA800C953A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77126-3DBB-D12F-3AF8-5F00189CF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5FEB-B537-4E56-AF82-028F52AFC168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4CF92-E122-5DEF-25F9-76962271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B1C73-6FBE-EA75-7DC5-D0C8AD95F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BD5DC-E139-42D9-BB0F-182DEF2F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931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FF74A-6D63-9413-C1F2-88AB780C8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AAECF2-65E4-5621-6FD1-3335881F3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F1ACC-D9A2-267B-18B3-1BFBB4C3B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5FEB-B537-4E56-AF82-028F52AFC168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F8A74-DA37-0EAF-E398-6F8F354A9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CEC8A-F6C1-7DBE-78F3-4E2595E23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BD5DC-E139-42D9-BB0F-182DEF2F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726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971024-1A7F-B50B-8773-C12668026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3D2A7-FDDB-E59E-8EC2-F345746B5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85167-CE67-C7D5-1BC3-D8B5F04E2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5FEB-B537-4E56-AF82-028F52AFC168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446ED-17A4-7E48-6B2F-4F59832ED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632FF-E013-779B-8A02-290A8BE29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BD5DC-E139-42D9-BB0F-182DEF2F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092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93ED39-444C-F571-DDB6-7FBAA38B8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733B8-058E-7205-11EF-D39020E2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FFDD1-D67D-09EA-C69B-8413C10F8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95FEB-B537-4E56-AF82-028F52AFC168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66663-4DC7-066B-7447-15F280897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A6CBA-3AB2-D607-8BF3-5CA2F3F4D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BBD5DC-E139-42D9-BB0F-182DEF2F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65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4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7.pn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32479160_Machine_Learning_Techniques_in_Concrete_Mix_Design" TargetMode="External" /><Relationship Id="rId2" Type="http://schemas.openxmlformats.org/officeDocument/2006/relationships/hyperlink" Target="https://ojs.bilpublishing.com/index.php/jbms" TargetMode="External" /><Relationship Id="rId1" Type="http://schemas.openxmlformats.org/officeDocument/2006/relationships/slideLayout" Target="../slideLayouts/slideLayout2.xml" /><Relationship Id="rId4" Type="http://schemas.openxmlformats.org/officeDocument/2006/relationships/hyperlink" Target="https://archive.ics.uci.edu/dataset/165/concrete+compressive+strength" TargetMode="Externa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E3862-6FCB-DE5C-FA4B-AE8A66DD27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867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MACHINE LEARNING FOR MIX DESIGN OF CONCRETE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FE5861-A895-D58A-480E-5416BF14ED53}"/>
              </a:ext>
            </a:extLst>
          </p:cNvPr>
          <p:cNvSpPr txBox="1"/>
          <p:nvPr/>
        </p:nvSpPr>
        <p:spPr>
          <a:xfrm>
            <a:off x="1524000" y="3826480"/>
            <a:ext cx="3958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Under the supervision of </a:t>
            </a:r>
          </a:p>
          <a:p>
            <a:r>
              <a:rPr lang="en-IN" sz="2800" b="1" dirty="0"/>
              <a:t>Prof. Damodar Maity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D22D00-E00A-A95B-170B-CF6CF5C0C2A3}"/>
              </a:ext>
            </a:extLst>
          </p:cNvPr>
          <p:cNvSpPr txBox="1"/>
          <p:nvPr/>
        </p:nvSpPr>
        <p:spPr>
          <a:xfrm>
            <a:off x="8558374" y="3826480"/>
            <a:ext cx="226651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Rudra Sai Teja</a:t>
            </a:r>
          </a:p>
          <a:p>
            <a:r>
              <a:rPr lang="en-IN" sz="2800" b="1" dirty="0"/>
              <a:t>21CE31010</a:t>
            </a:r>
          </a:p>
        </p:txBody>
      </p:sp>
    </p:spTree>
    <p:extLst>
      <p:ext uri="{BB962C8B-B14F-4D97-AF65-F5344CB8AC3E}">
        <p14:creationId xmlns:p14="http://schemas.microsoft.com/office/powerpoint/2010/main" val="2682539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FAB4A-C525-2AEE-9DDE-1E2EB9FC3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Objectives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8001E-7924-593C-F761-A40138BC6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Collection of datasets of concrete composition for various grades of concrete complying with standard codes</a:t>
            </a:r>
          </a:p>
          <a:p>
            <a:r>
              <a:rPr lang="en-US" dirty="0"/>
              <a:t>Choosing proper ML algorithms for the optimization and prediction of the ratio of materials and strengths for different grades of concrete</a:t>
            </a:r>
          </a:p>
          <a:p>
            <a:r>
              <a:rPr lang="en-US" dirty="0"/>
              <a:t>Automate the process of estimation of mix proportions of the concrete</a:t>
            </a:r>
          </a:p>
        </p:txBody>
      </p:sp>
    </p:spTree>
    <p:extLst>
      <p:ext uri="{BB962C8B-B14F-4D97-AF65-F5344CB8AC3E}">
        <p14:creationId xmlns:p14="http://schemas.microsoft.com/office/powerpoint/2010/main" val="693685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B8181-CA37-FD53-DA7A-3BC100841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4FAD2-BB5D-A20B-0BB5-FF13E1E91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Research gaps and Scope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B0E60-C26C-372A-5CA7-4F4910EAD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availability of the quality data is a major research gap</a:t>
            </a:r>
          </a:p>
          <a:p>
            <a:r>
              <a:rPr lang="en-US" dirty="0"/>
              <a:t>Improving the accuracy of the ML algorithms and reducing the deviation of the compressive strength is another major challenge</a:t>
            </a:r>
          </a:p>
          <a:p>
            <a:r>
              <a:rPr lang="en-IN" dirty="0"/>
              <a:t>This method can reduce wastage of natural resources, manpower</a:t>
            </a:r>
          </a:p>
          <a:p>
            <a:r>
              <a:rPr lang="en-IN" dirty="0"/>
              <a:t>If more diverse datasets are provided then the efficiency of models can be increased</a:t>
            </a:r>
          </a:p>
        </p:txBody>
      </p:sp>
    </p:spTree>
    <p:extLst>
      <p:ext uri="{BB962C8B-B14F-4D97-AF65-F5344CB8AC3E}">
        <p14:creationId xmlns:p14="http://schemas.microsoft.com/office/powerpoint/2010/main" val="2132714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C4B84-BD93-F079-486A-D385D358A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D801F-FE3F-83A4-39FD-BE982AAFC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Literature Review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0AD3D-E7F1-340B-CA86-84753FB6B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Concrete mix design is a systematic process that involves the selection and proportioning of materials to achieve the desired strength, durability and workability for specific applications</a:t>
            </a:r>
          </a:p>
          <a:p>
            <a:r>
              <a:rPr lang="en-US" dirty="0"/>
              <a:t>The important components of concrete are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 Cement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 Fine Aggregates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 Coarse Aggregates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 Water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 Additional ingredients or Admixtures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9834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58E68-4951-7816-152D-4883056DA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D9797-0061-FF0C-BD90-854D376A2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Literature Review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117A0-F82E-4D6F-EEC1-B27E0310C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Based on the guidelines of IS 10262:2009 and IS 10262:2019, we can estimate the mix proportion of the ingredients of the concrete for a particular compressive strength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This is done by the estimation of the following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dirty="0"/>
              <a:t>Water-cement (w/c) ratio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dirty="0"/>
              <a:t>Water content required (in kg)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dirty="0"/>
              <a:t>Cement content (in kg)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dirty="0"/>
              <a:t>Air entrapped (%volume of concrete)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IN" dirty="0"/>
              <a:t>Ratio of coarse aggregates to the total aggregates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IN" dirty="0"/>
              <a:t>Admixture contents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6680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3D665F2A-630C-6B71-3CC3-F06FF35F1D07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350" y="267128"/>
            <a:ext cx="6645328" cy="624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29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15EB24-705C-3DF4-481B-E28C55DFD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833212"/>
              </p:ext>
            </p:extLst>
          </p:nvPr>
        </p:nvGraphicFramePr>
        <p:xfrm>
          <a:off x="277402" y="339404"/>
          <a:ext cx="5381939" cy="2026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930">
                  <a:extLst>
                    <a:ext uri="{9D8B030D-6E8A-4147-A177-3AD203B41FA5}">
                      <a16:colId xmlns:a16="http://schemas.microsoft.com/office/drawing/2014/main" val="2672890604"/>
                    </a:ext>
                  </a:extLst>
                </a:gridCol>
                <a:gridCol w="2487188">
                  <a:extLst>
                    <a:ext uri="{9D8B030D-6E8A-4147-A177-3AD203B41FA5}">
                      <a16:colId xmlns:a16="http://schemas.microsoft.com/office/drawing/2014/main" val="2361831306"/>
                    </a:ext>
                  </a:extLst>
                </a:gridCol>
                <a:gridCol w="2037821">
                  <a:extLst>
                    <a:ext uri="{9D8B030D-6E8A-4147-A177-3AD203B41FA5}">
                      <a16:colId xmlns:a16="http://schemas.microsoft.com/office/drawing/2014/main" val="3287299318"/>
                    </a:ext>
                  </a:extLst>
                </a:gridCol>
              </a:tblGrid>
              <a:tr h="7402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Sl 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Nominal Max size of the aggregates (mm)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Water Content, kg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474170"/>
                  </a:ext>
                </a:extLst>
              </a:tr>
              <a:tr h="4288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21917"/>
                  </a:ext>
                </a:extLst>
              </a:tr>
              <a:tr h="4288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959165"/>
                  </a:ext>
                </a:extLst>
              </a:tr>
              <a:tr h="4288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62054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5D8E49-0BC2-4157-F80F-C7F7E7F7E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38614"/>
              </p:ext>
            </p:extLst>
          </p:nvPr>
        </p:nvGraphicFramePr>
        <p:xfrm>
          <a:off x="6096000" y="332632"/>
          <a:ext cx="5381939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159">
                  <a:extLst>
                    <a:ext uri="{9D8B030D-6E8A-4147-A177-3AD203B41FA5}">
                      <a16:colId xmlns:a16="http://schemas.microsoft.com/office/drawing/2014/main" val="2737726446"/>
                    </a:ext>
                  </a:extLst>
                </a:gridCol>
                <a:gridCol w="2170890">
                  <a:extLst>
                    <a:ext uri="{9D8B030D-6E8A-4147-A177-3AD203B41FA5}">
                      <a16:colId xmlns:a16="http://schemas.microsoft.com/office/drawing/2014/main" val="772094528"/>
                    </a:ext>
                  </a:extLst>
                </a:gridCol>
                <a:gridCol w="2170890">
                  <a:extLst>
                    <a:ext uri="{9D8B030D-6E8A-4147-A177-3AD203B41FA5}">
                      <a16:colId xmlns:a16="http://schemas.microsoft.com/office/drawing/2014/main" val="24105763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Sl 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Nominal Max size of the aggregates (mm)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Entrapped Air, as percentage of volume of concrete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049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94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12.5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685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27862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A2D6DEBB-02D8-5F78-1FB3-DB2F13C03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92" y="3250342"/>
            <a:ext cx="9451844" cy="202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424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348F60F-D663-DC10-6194-7E75AC5FA5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607387"/>
              </p:ext>
            </p:extLst>
          </p:nvPr>
        </p:nvGraphicFramePr>
        <p:xfrm>
          <a:off x="2032000" y="442264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6492376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013510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Zone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346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Zone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15% to 34%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32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Zone 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34% to 59%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52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Zone 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60% to 79%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313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Zone 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80% to 100%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9456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151E943-5DC9-37D6-672F-E5EE6AC83FD3}"/>
                  </a:ext>
                </a:extLst>
              </p:cNvPr>
              <p:cNvSpPr txBox="1"/>
              <p:nvPr/>
            </p:nvSpPr>
            <p:spPr>
              <a:xfrm>
                <a:off x="1534274" y="3395609"/>
                <a:ext cx="9123451" cy="753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800" dirty="0"/>
                  <a:t>V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it-IT" sz="2800" i="1" dirty="0" smtClean="0">
                        <a:latin typeface="Cambria Math" panose="02040503050406030204" pitchFamily="18" charset="0"/>
                      </a:rPr>
                      <m:t>[ </m:t>
                    </m:r>
                    <m:r>
                      <a:rPr lang="it-IT" sz="2800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it-IT" sz="2800" i="1" dirty="0" smtClean="0">
                        <a:latin typeface="Cambria Math" panose="02040503050406030204" pitchFamily="18" charset="0"/>
                      </a:rPr>
                      <m:t> + </m:t>
                    </m:r>
                    <m:f>
                      <m:fPr>
                        <m:ctrlPr>
                          <a:rPr lang="it-IT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800" b="0" i="1" baseline="-2500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2800" i="1" dirty="0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it-IT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it-IT" sz="2800" i="1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it-IT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𝐹𝐴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800" b="0" i="1" baseline="-25000" dirty="0" smtClean="0">
                            <a:latin typeface="Cambria Math" panose="02040503050406030204" pitchFamily="18" charset="0"/>
                          </a:rPr>
                          <m:t>𝐹𝐴</m:t>
                        </m:r>
                      </m:den>
                    </m:f>
                    <m:r>
                      <a:rPr lang="it-IT" sz="2800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it-IT" sz="2800" dirty="0"/>
                  <a:t>for fine aggregate …............1        </a:t>
                </a:r>
                <a:endParaRPr lang="en-IN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151E943-5DC9-37D6-672F-E5EE6AC83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274" y="3395609"/>
                <a:ext cx="9123451" cy="753924"/>
              </a:xfrm>
              <a:prstGeom prst="rect">
                <a:avLst/>
              </a:prstGeom>
              <a:blipFill>
                <a:blip r:embed="rId2"/>
                <a:stretch>
                  <a:fillRect l="-1404" r="-6150" b="-40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0AFA5A-6DFB-FC0F-C938-A39EBFDF6089}"/>
                  </a:ext>
                </a:extLst>
              </p:cNvPr>
              <p:cNvSpPr txBox="1"/>
              <p:nvPr/>
            </p:nvSpPr>
            <p:spPr>
              <a:xfrm>
                <a:off x="1534274" y="4417889"/>
                <a:ext cx="9123451" cy="762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800" dirty="0"/>
                  <a:t>V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it-IT" sz="2800" i="1" dirty="0" smtClean="0">
                        <a:latin typeface="Cambria Math" panose="02040503050406030204" pitchFamily="18" charset="0"/>
                      </a:rPr>
                      <m:t>[ </m:t>
                    </m:r>
                    <m:r>
                      <a:rPr lang="it-IT" sz="2800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it-IT" sz="2800" i="1" dirty="0" smtClean="0">
                        <a:latin typeface="Cambria Math" panose="02040503050406030204" pitchFamily="18" charset="0"/>
                      </a:rPr>
                      <m:t> + </m:t>
                    </m:r>
                    <m:f>
                      <m:fPr>
                        <m:ctrlPr>
                          <a:rPr lang="it-IT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800" b="0" i="1" baseline="-2500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2800" i="1" dirty="0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it-IT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it-IT" sz="2800" i="1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it-IT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𝐶𝐴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800" b="0" i="1" baseline="-25000" dirty="0" smtClean="0">
                            <a:latin typeface="Cambria Math" panose="02040503050406030204" pitchFamily="18" charset="0"/>
                          </a:rPr>
                          <m:t>𝐶𝐴</m:t>
                        </m:r>
                      </m:den>
                    </m:f>
                    <m:r>
                      <a:rPr lang="it-IT" sz="2800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it-IT" sz="2800" dirty="0"/>
                  <a:t>for coarse aggregate ....2</a:t>
                </a:r>
                <a:endParaRPr lang="en-IN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0AFA5A-6DFB-FC0F-C938-A39EBFDF6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274" y="4417889"/>
                <a:ext cx="9123451" cy="762196"/>
              </a:xfrm>
              <a:prstGeom prst="rect">
                <a:avLst/>
              </a:prstGeom>
              <a:blipFill>
                <a:blip r:embed="rId3"/>
                <a:stretch>
                  <a:fillRect l="-1404" b="-32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3230BBE-43B8-0D9E-4FB9-EBE2D9A35A5E}"/>
              </a:ext>
            </a:extLst>
          </p:cNvPr>
          <p:cNvSpPr txBox="1"/>
          <p:nvPr/>
        </p:nvSpPr>
        <p:spPr>
          <a:xfrm>
            <a:off x="1723776" y="2440111"/>
            <a:ext cx="8744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Classification of fine aggregates into different zones based on % passing through 600µ sieve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EBE37-7C2D-5C6D-12D9-43E4F4129415}"/>
              </a:ext>
            </a:extLst>
          </p:cNvPr>
          <p:cNvSpPr txBox="1"/>
          <p:nvPr/>
        </p:nvSpPr>
        <p:spPr>
          <a:xfrm>
            <a:off x="1610760" y="5448441"/>
            <a:ext cx="7538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where p is the volume of coarse aggregates per unit total volume of aggregates</a:t>
            </a:r>
          </a:p>
        </p:txBody>
      </p:sp>
    </p:spTree>
    <p:extLst>
      <p:ext uri="{BB962C8B-B14F-4D97-AF65-F5344CB8AC3E}">
        <p14:creationId xmlns:p14="http://schemas.microsoft.com/office/powerpoint/2010/main" val="123112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312B3-4AD6-1AA2-7F34-2649F3B11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9B069-392C-545C-1C2F-AFF6373EF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F7BCC-622D-102F-5BF2-0DDDB108C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traditional method though efficient and reliable, it is labour intensive</a:t>
            </a:r>
          </a:p>
          <a:p>
            <a:r>
              <a:rPr lang="en-IN" dirty="0"/>
              <a:t>So alternative approach has to be developed in solving this problem</a:t>
            </a:r>
          </a:p>
          <a:p>
            <a:r>
              <a:rPr lang="en-IN" dirty="0"/>
              <a:t>Machine Learning techniques can solve this problem if given a quality dataset with good variability</a:t>
            </a:r>
          </a:p>
          <a:p>
            <a:r>
              <a:rPr lang="en-IN" dirty="0"/>
              <a:t>5 models with 8 input features mapping 1 output have been trained with the datasets</a:t>
            </a:r>
          </a:p>
        </p:txBody>
      </p:sp>
    </p:spTree>
    <p:extLst>
      <p:ext uri="{BB962C8B-B14F-4D97-AF65-F5344CB8AC3E}">
        <p14:creationId xmlns:p14="http://schemas.microsoft.com/office/powerpoint/2010/main" val="532476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E50633-62B9-3580-78B6-4457AD1DE5E9}"/>
              </a:ext>
            </a:extLst>
          </p:cNvPr>
          <p:cNvSpPr txBox="1"/>
          <p:nvPr/>
        </p:nvSpPr>
        <p:spPr>
          <a:xfrm>
            <a:off x="812455" y="595900"/>
            <a:ext cx="105670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Linear regression tries to fit the data with a best possible straight line with minimum error (residual sum of squares)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Lasso and Ridge regressions are modified versions of linear regression which aims in reducing the complexity of the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The loss functions and approach in minimising these errors are also different in both these approaches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499A14C-AF96-7321-956C-65711636E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55" y="3273556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544C595-14FF-6AA3-0039-D92DF3B32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731" y="2825393"/>
            <a:ext cx="4778278" cy="3583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2453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E3A5E3-BB7F-0449-6ABF-80F6CAFEE2B2}"/>
              </a:ext>
            </a:extLst>
          </p:cNvPr>
          <p:cNvSpPr txBox="1"/>
          <p:nvPr/>
        </p:nvSpPr>
        <p:spPr>
          <a:xfrm>
            <a:off x="835575" y="441790"/>
            <a:ext cx="1052084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</a:rPr>
              <a:t>Decision Tree regressor model predicts numerical values using a tree-like structure.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</a:rPr>
              <a:t>It splits data based on key features, starting from a root question and branching out. Each node asks about a feature, dividing data further until reaching leaf nodes with final predictions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279408-07BF-0AC0-615C-37BF83C44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622" y="3064966"/>
            <a:ext cx="5750103" cy="3582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EC2BB8-0D88-69D1-FE83-ACDC1CCAE2CD}"/>
              </a:ext>
            </a:extLst>
          </p:cNvPr>
          <p:cNvSpPr txBox="1"/>
          <p:nvPr/>
        </p:nvSpPr>
        <p:spPr>
          <a:xfrm>
            <a:off x="4890541" y="6278047"/>
            <a:ext cx="2410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Decision Tree Regressor</a:t>
            </a:r>
          </a:p>
        </p:txBody>
      </p:sp>
    </p:spTree>
    <p:extLst>
      <p:ext uri="{BB962C8B-B14F-4D97-AF65-F5344CB8AC3E}">
        <p14:creationId xmlns:p14="http://schemas.microsoft.com/office/powerpoint/2010/main" val="1172854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8651797-CE62-58E1-00E9-95E8B7DD4A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18"/>
          <a:stretch/>
        </p:blipFill>
        <p:spPr bwMode="auto">
          <a:xfrm>
            <a:off x="2434975" y="2324457"/>
            <a:ext cx="6671187" cy="373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748D21-A8B4-F042-8144-A90E98C6822C}"/>
              </a:ext>
            </a:extLst>
          </p:cNvPr>
          <p:cNvSpPr txBox="1"/>
          <p:nvPr/>
        </p:nvSpPr>
        <p:spPr>
          <a:xfrm>
            <a:off x="4520802" y="6056059"/>
            <a:ext cx="2576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Random Forest Regressor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561FBD-3B15-F611-8A57-0D34E8DC44D1}"/>
              </a:ext>
            </a:extLst>
          </p:cNvPr>
          <p:cNvSpPr txBox="1"/>
          <p:nvPr/>
        </p:nvSpPr>
        <p:spPr>
          <a:xfrm>
            <a:off x="789398" y="591639"/>
            <a:ext cx="1061320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</a:rPr>
              <a:t>Random Forest regressor model is a combination of multiple decision trees which takes the average of all the predictions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</a:rPr>
              <a:t>It trains on random datasets for each decision tree so that the variance of the final results is minimized</a:t>
            </a:r>
          </a:p>
        </p:txBody>
      </p:sp>
    </p:spTree>
    <p:extLst>
      <p:ext uri="{BB962C8B-B14F-4D97-AF65-F5344CB8AC3E}">
        <p14:creationId xmlns:p14="http://schemas.microsoft.com/office/powerpoint/2010/main" val="21973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F5172-806F-EB0E-5A1A-7BB45D103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4BFE-5056-EB36-36F9-016234FEE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189378" cy="765032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Results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1A149A-AAF3-0C5D-7B7D-0028EF91F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00" y="1267413"/>
            <a:ext cx="5145991" cy="368136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CD20A1-A427-2C1E-2557-8084C228C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556" y="934948"/>
            <a:ext cx="4680568" cy="40324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1AED66-B386-7F44-09FF-3762D27DF3E6}"/>
                  </a:ext>
                </a:extLst>
              </p:cNvPr>
              <p:cNvSpPr txBox="1"/>
              <p:nvPr/>
            </p:nvSpPr>
            <p:spPr>
              <a:xfrm>
                <a:off x="6711857" y="5080755"/>
                <a:ext cx="3973267" cy="9130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𝐶𝑜𝑟𝑟</m:t>
                      </m:r>
                      <m:d>
                        <m:d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IN" sz="2800" b="0" i="1" baseline="-2500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IN" sz="2800" b="0" i="1" baseline="-2500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1AED66-B386-7F44-09FF-3762D27DF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857" y="5080755"/>
                <a:ext cx="3973267" cy="913007"/>
              </a:xfrm>
              <a:prstGeom prst="rect">
                <a:avLst/>
              </a:prstGeom>
              <a:blipFill>
                <a:blip r:embed="rId4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6642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A47E6214-0FF9-A9AB-E1E2-8EE6F2BC1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56" y="-1"/>
            <a:ext cx="11238162" cy="36366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71708DE-31A2-FDE2-72D9-AB00E3F047F0}"/>
                  </a:ext>
                </a:extLst>
              </p:cNvPr>
              <p:cNvSpPr txBox="1"/>
              <p:nvPr/>
            </p:nvSpPr>
            <p:spPr>
              <a:xfrm>
                <a:off x="8281962" y="4292654"/>
                <a:ext cx="3643370" cy="8628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600" dirty="0"/>
                  <a:t>Ridge Regression:</a:t>
                </a:r>
              </a:p>
              <a:p>
                <a:r>
                  <a:rPr lang="en-IN" sz="1600" dirty="0"/>
                  <a:t>Loss </a:t>
                </a:r>
                <a:r>
                  <a:rPr lang="el-GR" sz="1600" dirty="0"/>
                  <a:t> </a:t>
                </a:r>
                <a:r>
                  <a:rPr lang="en-IN" sz="1600" dirty="0"/>
                  <a:t>Function = Sum of squared residuals</a:t>
                </a:r>
              </a:p>
              <a:p>
                <a:r>
                  <a:rPr lang="en-IN" sz="1600" dirty="0"/>
                  <a:t>                              + </a:t>
                </a:r>
                <a:r>
                  <a:rPr lang="el-GR" sz="1600" dirty="0"/>
                  <a:t>λ*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l-GR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I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nor/>
                          </m:rPr>
                          <a:rPr lang="el-GR" sz="1600" dirty="0" smtClean="0"/>
                          <m:t>β</m:t>
                        </m:r>
                        <m:r>
                          <m:rPr>
                            <m:nor/>
                          </m:rPr>
                          <a:rPr lang="en-IN" sz="1600" b="0" i="0" baseline="-25000" dirty="0" smtClean="0"/>
                          <m:t>i</m:t>
                        </m:r>
                        <m:r>
                          <m:rPr>
                            <m:nor/>
                          </m:rPr>
                          <a:rPr lang="en-IN" sz="1600" baseline="30000" dirty="0" smtClean="0"/>
                          <m:t>2</m:t>
                        </m:r>
                      </m:e>
                    </m:nary>
                  </m:oMath>
                </a14:m>
                <a:endParaRPr lang="en-IN" sz="16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71708DE-31A2-FDE2-72D9-AB00E3F04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962" y="4292654"/>
                <a:ext cx="3643370" cy="862800"/>
              </a:xfrm>
              <a:prstGeom prst="rect">
                <a:avLst/>
              </a:prstGeom>
              <a:blipFill>
                <a:blip r:embed="rId3"/>
                <a:stretch>
                  <a:fillRect l="-1005" t="-2113" b="-619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6F250443-E3F5-3410-679D-C562E1266F5F}"/>
              </a:ext>
            </a:extLst>
          </p:cNvPr>
          <p:cNvSpPr txBox="1"/>
          <p:nvPr/>
        </p:nvSpPr>
        <p:spPr>
          <a:xfrm>
            <a:off x="3741348" y="3625971"/>
            <a:ext cx="4709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y=</a:t>
            </a:r>
            <a:r>
              <a:rPr lang="el-GR" sz="2800" dirty="0"/>
              <a:t>β</a:t>
            </a:r>
            <a:r>
              <a:rPr lang="el-GR" sz="2800" baseline="-25000" dirty="0"/>
              <a:t>0</a:t>
            </a:r>
            <a:r>
              <a:rPr lang="el-GR" sz="2800" dirty="0"/>
              <a:t> + β</a:t>
            </a:r>
            <a:r>
              <a:rPr lang="el-GR" sz="2800" baseline="-25000" dirty="0"/>
              <a:t>1</a:t>
            </a:r>
            <a:r>
              <a:rPr lang="en-IN" sz="2800" dirty="0"/>
              <a:t>x</a:t>
            </a:r>
            <a:r>
              <a:rPr lang="en-IN" sz="2800" baseline="-25000" dirty="0"/>
              <a:t>1</a:t>
            </a:r>
            <a:r>
              <a:rPr lang="en-IN" sz="2800" dirty="0"/>
              <a:t> + </a:t>
            </a:r>
            <a:r>
              <a:rPr lang="el-GR" sz="2800" dirty="0"/>
              <a:t>β</a:t>
            </a:r>
            <a:r>
              <a:rPr lang="el-GR" sz="2800" baseline="-25000" dirty="0"/>
              <a:t>2</a:t>
            </a:r>
            <a:r>
              <a:rPr lang="en-IN" sz="2800" dirty="0"/>
              <a:t>x</a:t>
            </a:r>
            <a:r>
              <a:rPr lang="en-IN" sz="2800" baseline="-25000" dirty="0"/>
              <a:t>2</a:t>
            </a:r>
            <a:r>
              <a:rPr lang="en-IN" sz="2800" dirty="0"/>
              <a:t> + ⋯ + </a:t>
            </a:r>
            <a:r>
              <a:rPr lang="el-GR" sz="2800" dirty="0"/>
              <a:t>β</a:t>
            </a:r>
            <a:r>
              <a:rPr lang="en-IN" sz="2800" baseline="-25000" dirty="0"/>
              <a:t>n</a:t>
            </a:r>
            <a:r>
              <a:rPr lang="en-IN" sz="2800" dirty="0"/>
              <a:t>x</a:t>
            </a:r>
            <a:r>
              <a:rPr lang="en-IN" sz="2800" baseline="-25000" dirty="0"/>
              <a:t>n</a:t>
            </a:r>
            <a:r>
              <a:rPr lang="en-IN" sz="2800" dirty="0"/>
              <a:t> +</a:t>
            </a:r>
            <a:r>
              <a:rPr lang="el-GR" sz="2800" dirty="0"/>
              <a:t>ϵ</a:t>
            </a:r>
            <a:endParaRPr lang="en-IN" sz="2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E5498B-0A80-E055-3D1F-1D70F04D0A83}"/>
              </a:ext>
            </a:extLst>
          </p:cNvPr>
          <p:cNvSpPr txBox="1"/>
          <p:nvPr/>
        </p:nvSpPr>
        <p:spPr>
          <a:xfrm>
            <a:off x="431056" y="4292654"/>
            <a:ext cx="35968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Linear Regression:</a:t>
            </a:r>
          </a:p>
          <a:p>
            <a:r>
              <a:rPr lang="en-IN" sz="1600" dirty="0"/>
              <a:t>Loss Function = Sum of squared residuals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B55222E-7749-A118-85F2-713F84501F78}"/>
                  </a:ext>
                </a:extLst>
              </p:cNvPr>
              <p:cNvSpPr txBox="1"/>
              <p:nvPr/>
            </p:nvSpPr>
            <p:spPr>
              <a:xfrm>
                <a:off x="4340643" y="4292654"/>
                <a:ext cx="4085157" cy="1108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/>
                  <a:t>Lasso Regression:</a:t>
                </a:r>
              </a:p>
              <a:p>
                <a:r>
                  <a:rPr lang="en-IN" sz="1600" dirty="0"/>
                  <a:t>Loss Function = Sum of squared residuals </a:t>
                </a:r>
              </a:p>
              <a:p>
                <a:r>
                  <a:rPr lang="en-IN" sz="1600" dirty="0"/>
                  <a:t>                             + </a:t>
                </a:r>
                <a:r>
                  <a:rPr lang="el-GR" sz="1600" dirty="0"/>
                  <a:t>λ*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l-GR" sz="16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IN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6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nor/>
                          </m:rPr>
                          <a:rPr lang="el-GR" sz="1600" dirty="0" smtClean="0"/>
                          <m:t>∣</m:t>
                        </m:r>
                        <m:r>
                          <m:rPr>
                            <m:nor/>
                          </m:rPr>
                          <a:rPr lang="el-GR" sz="1600" dirty="0" smtClean="0"/>
                          <m:t>β</m:t>
                        </m:r>
                        <m:r>
                          <m:rPr>
                            <m:nor/>
                          </m:rPr>
                          <a:rPr lang="en-IN" sz="1600" b="0" i="0" baseline="-25000" dirty="0" smtClean="0"/>
                          <m:t>i</m:t>
                        </m:r>
                        <m:r>
                          <m:rPr>
                            <m:nor/>
                          </m:rPr>
                          <a:rPr lang="el-GR" sz="1600" dirty="0" smtClean="0"/>
                          <m:t>∣</m:t>
                        </m:r>
                      </m:e>
                    </m:nary>
                  </m:oMath>
                </a14:m>
                <a:endParaRPr lang="en-IN" sz="16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B55222E-7749-A118-85F2-713F84501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643" y="4292654"/>
                <a:ext cx="4085157" cy="1108830"/>
              </a:xfrm>
              <a:prstGeom prst="rect">
                <a:avLst/>
              </a:prstGeom>
              <a:blipFill>
                <a:blip r:embed="rId4"/>
                <a:stretch>
                  <a:fillRect l="-746" t="-1648" b="-263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AA96A2CB-37D3-6DB2-9BB6-B2D83447FBF5}"/>
              </a:ext>
            </a:extLst>
          </p:cNvPr>
          <p:cNvSpPr txBox="1"/>
          <p:nvPr/>
        </p:nvSpPr>
        <p:spPr>
          <a:xfrm>
            <a:off x="5887092" y="5544947"/>
            <a:ext cx="368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where </a:t>
            </a:r>
            <a:r>
              <a:rPr lang="el-GR" sz="1800" dirty="0"/>
              <a:t>λ</a:t>
            </a:r>
            <a:r>
              <a:rPr lang="en-IN" sz="1800" dirty="0"/>
              <a:t> is a regularization parameter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748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340A69FB-9B5A-ED45-B90B-DAB796EC1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202" y="0"/>
            <a:ext cx="5908041" cy="35182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8812D9-005B-FF0D-C1DA-696CBE8B2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43" y="3326595"/>
            <a:ext cx="4903317" cy="35314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69A285-527C-7E54-668D-CB6485EE5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483" y="3326594"/>
            <a:ext cx="4903317" cy="353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549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D152D76-BC4D-F7E5-19DD-552B010CA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51" y="1746607"/>
            <a:ext cx="5339138" cy="31794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9E4493-4971-53DA-0E24-4D3ED21F52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813" y="1447207"/>
            <a:ext cx="5673681" cy="396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559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90AAC7B-D7EA-7695-7A23-DD1276365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450262"/>
              </p:ext>
            </p:extLst>
          </p:nvPr>
        </p:nvGraphicFramePr>
        <p:xfrm>
          <a:off x="2236912" y="377904"/>
          <a:ext cx="7718176" cy="275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1906">
                  <a:extLst>
                    <a:ext uri="{9D8B030D-6E8A-4147-A177-3AD203B41FA5}">
                      <a16:colId xmlns:a16="http://schemas.microsoft.com/office/drawing/2014/main" val="3813692892"/>
                    </a:ext>
                  </a:extLst>
                </a:gridCol>
                <a:gridCol w="1448656">
                  <a:extLst>
                    <a:ext uri="{9D8B030D-6E8A-4147-A177-3AD203B41FA5}">
                      <a16:colId xmlns:a16="http://schemas.microsoft.com/office/drawing/2014/main" val="1194197167"/>
                    </a:ext>
                  </a:extLst>
                </a:gridCol>
                <a:gridCol w="1566238">
                  <a:extLst>
                    <a:ext uri="{9D8B030D-6E8A-4147-A177-3AD203B41FA5}">
                      <a16:colId xmlns:a16="http://schemas.microsoft.com/office/drawing/2014/main" val="2352615210"/>
                    </a:ext>
                  </a:extLst>
                </a:gridCol>
                <a:gridCol w="1474913">
                  <a:extLst>
                    <a:ext uri="{9D8B030D-6E8A-4147-A177-3AD203B41FA5}">
                      <a16:colId xmlns:a16="http://schemas.microsoft.com/office/drawing/2014/main" val="4109646330"/>
                    </a:ext>
                  </a:extLst>
                </a:gridCol>
                <a:gridCol w="1366463">
                  <a:extLst>
                    <a:ext uri="{9D8B030D-6E8A-4147-A177-3AD203B41FA5}">
                      <a16:colId xmlns:a16="http://schemas.microsoft.com/office/drawing/2014/main" val="33995325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RMSE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  <a:r>
                        <a:rPr lang="en-US" baseline="30000" dirty="0"/>
                        <a:t>2</a:t>
                      </a:r>
                      <a:endParaRPr lang="en-IN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97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10.29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105.78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852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Lasso Regression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10.68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114.13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8.66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788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Ridge Regression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10.29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105.86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243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Decision Tree Regressor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7.53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56.69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4.66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6350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Forest Regressor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5.08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25.85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32505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21FBB9-4278-3A43-7237-F4070337260C}"/>
                  </a:ext>
                </a:extLst>
              </p:cNvPr>
              <p:cNvSpPr txBox="1"/>
              <p:nvPr/>
            </p:nvSpPr>
            <p:spPr>
              <a:xfrm>
                <a:off x="2236912" y="3428327"/>
                <a:ext cx="4705563" cy="33869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dirty="0"/>
                  <a:t>Evaluation metrics are given by</a:t>
                </a:r>
              </a:p>
              <a:p>
                <a:r>
                  <a:rPr lang="en-IN" sz="2800" dirty="0"/>
                  <a:t>MSE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∗</m:t>
                    </m:r>
                    <m:nary>
                      <m:naryPr>
                        <m:chr m:val="∑"/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𝑦𝑖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acc>
                          <m:accPr>
                            <m:chr m:val="̂"/>
                            <m:ctrlP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sz="2800" b="0" i="1" baseline="-2500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IN" sz="2800" baseline="30000" dirty="0"/>
                  <a:t>2</a:t>
                </a:r>
              </a:p>
              <a:p>
                <a:r>
                  <a:rPr lang="en-IN" sz="2800" dirty="0"/>
                  <a:t>RMSE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nary>
                          <m:naryPr>
                            <m:chr m:val="∑"/>
                            <m:ctrlP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𝑦𝑖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acc>
                              <m:accPr>
                                <m:chr m:val="̂"/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IN" sz="2800" b="0" i="1" baseline="-2500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nary>
                        <m:r>
                          <m:rPr>
                            <m:nor/>
                          </m:rPr>
                          <a:rPr lang="en-IN" sz="2800" baseline="30000" dirty="0"/>
                          <m:t>2</m:t>
                        </m:r>
                      </m:e>
                    </m:rad>
                  </m:oMath>
                </a14:m>
                <a:endParaRPr lang="en-IN" sz="2800" dirty="0"/>
              </a:p>
              <a:p>
                <a:r>
                  <a:rPr lang="en-IN" sz="2800" dirty="0"/>
                  <a:t>MAE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∗</m:t>
                    </m:r>
                    <m:nary>
                      <m:naryPr>
                        <m:chr m:val="∑"/>
                        <m:limLoc m:val="subSup"/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I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sz="2800" b="0" i="1" baseline="-2500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acc>
                              <m:accPr>
                                <m:chr m:val="̂"/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IN" sz="2800" b="0" i="1" baseline="-2500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</m:e>
                        </m:d>
                      </m:e>
                    </m:nary>
                  </m:oMath>
                </a14:m>
                <a:endParaRPr lang="en-IN" sz="2800" baseline="30000" dirty="0"/>
              </a:p>
              <a:p>
                <a:r>
                  <a:rPr lang="en-IN" sz="2800" dirty="0"/>
                  <a:t>R</a:t>
                </a:r>
                <a:r>
                  <a:rPr lang="en-IN" sz="2800" baseline="30000" dirty="0"/>
                  <a:t>2 </a:t>
                </a:r>
                <a:r>
                  <a:rPr lang="en-IN" sz="2800" dirty="0"/>
                  <a:t>=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1 −</m:t>
                    </m:r>
                  </m:oMath>
                </a14:m>
                <a:r>
                  <a:rPr lang="en-IN" sz="28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IN" sz="28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𝑦𝑖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acc>
                              <m:accPr>
                                <m:chr m:val="̂"/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IN" sz="2800" b="0" i="1" baseline="-2500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nary>
                        <m:r>
                          <a:rPr lang="en-IN" sz="28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IN" sz="28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IN" sz="2800" b="0" i="1" baseline="-2500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I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IN" sz="2800" b="0" i="1" baseline="30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nary>
                      </m:den>
                    </m:f>
                  </m:oMath>
                </a14:m>
                <a:endParaRPr lang="en-IN" sz="2800" baseline="30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21FBB9-4278-3A43-7237-F40703372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912" y="3428327"/>
                <a:ext cx="4705563" cy="3386953"/>
              </a:xfrm>
              <a:prstGeom prst="rect">
                <a:avLst/>
              </a:prstGeom>
              <a:blipFill>
                <a:blip r:embed="rId2"/>
                <a:stretch>
                  <a:fillRect l="-2720" t="-1619" r="-14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F716E5-41D6-24FB-B067-88D4C6754048}"/>
                  </a:ext>
                </a:extLst>
              </p:cNvPr>
              <p:cNvSpPr txBox="1"/>
              <p:nvPr/>
            </p:nvSpPr>
            <p:spPr>
              <a:xfrm>
                <a:off x="7746715" y="3801438"/>
                <a:ext cx="430579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where,   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i="1" baseline="-25000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𝑎𝑐𝑡𝑢𝑎𝑙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𝑣𝑎𝑙𝑢𝑒</m:t>
                    </m:r>
                  </m:oMath>
                </a14:m>
                <a:endParaRPr lang="en-IN" dirty="0"/>
              </a:p>
              <a:p>
                <a:r>
                  <a:rPr lang="en-IN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b="0" i="1" baseline="-2500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𝑝𝑟𝑒𝑑𝑖𝑐𝑡𝑒𝑑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𝑣𝑎𝑙𝑢𝑒</m:t>
                    </m:r>
                  </m:oMath>
                </a14:m>
                <a:endParaRPr lang="en-IN" b="0" dirty="0"/>
              </a:p>
              <a:p>
                <a:r>
                  <a:rPr lang="en-IN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b="0" i="1" baseline="-2500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𝑚𝑒𝑎𝑛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𝑎𝑐𝑡𝑢𝑎𝑙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𝑣𝑎𝑙𝑢𝑒𝑠</m:t>
                    </m:r>
                  </m:oMath>
                </a14:m>
                <a:endParaRPr lang="en-IN" b="0" dirty="0"/>
              </a:p>
              <a:p>
                <a:r>
                  <a:rPr lang="en-IN" dirty="0"/>
                  <a:t>	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𝑛𝑜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𝑑𝑎𝑡𝑎𝑝𝑜𝑖𝑛𝑡𝑠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F716E5-41D6-24FB-B067-88D4C6754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6715" y="3801438"/>
                <a:ext cx="4305794" cy="1200329"/>
              </a:xfrm>
              <a:prstGeom prst="rect">
                <a:avLst/>
              </a:prstGeom>
              <a:blipFill>
                <a:blip r:embed="rId3"/>
                <a:stretch>
                  <a:fillRect l="-1275" t="-3061" b="-3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9397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88395-ED26-217F-9448-53CD12E68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26288-1623-D877-7EBB-969F453A1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Discussion and Conclusion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5E381-3398-8616-C641-BF7EEF555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From the results, Random Forest Regressor performs better, with more accuracy</a:t>
            </a:r>
          </a:p>
          <a:p>
            <a:r>
              <a:rPr lang="en-IN" dirty="0"/>
              <a:t>Feature importance and feature coefficient shows that cement content and age are the two important factors that affect the compressive strength of the concrete</a:t>
            </a:r>
          </a:p>
          <a:p>
            <a:r>
              <a:rPr lang="en-IN" dirty="0"/>
              <a:t>Cement performs the role of binding aggregates, as its content increases with w/c ratio, binding and hydration increases</a:t>
            </a:r>
          </a:p>
          <a:p>
            <a:r>
              <a:rPr lang="en-IN" dirty="0"/>
              <a:t>As the age increases, the hydration of cement also increases making it more denser and stronger</a:t>
            </a:r>
          </a:p>
        </p:txBody>
      </p:sp>
    </p:spTree>
    <p:extLst>
      <p:ext uri="{BB962C8B-B14F-4D97-AF65-F5344CB8AC3E}">
        <p14:creationId xmlns:p14="http://schemas.microsoft.com/office/powerpoint/2010/main" val="501395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1ED80-723D-FE7C-641A-3BAB8845B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95DA7-9BEC-4CA6-F5E9-502049561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278438" cy="1165724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Future Work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A189A-A466-C4A2-0C03-3AD780AE6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850"/>
            <a:ext cx="10515600" cy="4646113"/>
          </a:xfrm>
        </p:spPr>
        <p:txBody>
          <a:bodyPr/>
          <a:lstStyle/>
          <a:p>
            <a:r>
              <a:rPr lang="en-US" dirty="0"/>
              <a:t>Strong models with more accuracy needs to be developed</a:t>
            </a:r>
          </a:p>
          <a:p>
            <a:r>
              <a:rPr lang="en-US" dirty="0"/>
              <a:t>Should create models predicting the ratios and strength of concrete, with much less information as input</a:t>
            </a:r>
          </a:p>
          <a:p>
            <a:r>
              <a:rPr lang="en-US" dirty="0"/>
              <a:t>Should create a User Interface (UI) for making these models accessible</a:t>
            </a:r>
          </a:p>
        </p:txBody>
      </p:sp>
    </p:spTree>
    <p:extLst>
      <p:ext uri="{BB962C8B-B14F-4D97-AF65-F5344CB8AC3E}">
        <p14:creationId xmlns:p14="http://schemas.microsoft.com/office/powerpoint/2010/main" val="363388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B155B-D112-24E5-50B5-63427F70A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References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90D89-1965-CBB2-F321-955962E53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2494"/>
            <a:ext cx="10515600" cy="4584469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IS:10262-2009. Indian Standard Concrete Mix Proportioning-Guidelines. Bureau of Indian Standards, New Delhi, India. </a:t>
            </a:r>
          </a:p>
          <a:p>
            <a:r>
              <a:rPr lang="en-IN" dirty="0"/>
              <a:t>IS:10262-2019. Indian Standard Concrete Mix Proportioning-Guidelines (Second Revision). Bureau of Indian Standards, New Delhi, India. </a:t>
            </a:r>
          </a:p>
          <a:p>
            <a:r>
              <a:rPr lang="en-IN" dirty="0"/>
              <a:t>Journal of Building Material Science </a:t>
            </a:r>
            <a:r>
              <a:rPr lang="en-IN" dirty="0">
                <a:hlinkClick r:id="rId2"/>
              </a:rPr>
              <a:t>https://ojs.bilpublishing.com/index.php/jbms</a:t>
            </a:r>
            <a:endParaRPr lang="en-IN" dirty="0"/>
          </a:p>
          <a:p>
            <a:r>
              <a:rPr lang="en-IN" dirty="0"/>
              <a:t>Machine Learning Techniques in Concrete Mix Design by Patryk Ziolkowski and Maciej Niedostatkiewicz 2019 </a:t>
            </a:r>
            <a:r>
              <a:rPr lang="en-IN" dirty="0">
                <a:hlinkClick r:id="rId3"/>
              </a:rPr>
              <a:t>https://www.researchgate.net/publication/332479160_Machine_Learning_Techniques_in_Concrete_Mix_Design</a:t>
            </a:r>
            <a:endParaRPr lang="en-IN" dirty="0"/>
          </a:p>
          <a:p>
            <a:r>
              <a:rPr lang="en-IN" dirty="0"/>
              <a:t>UCI Machine Learning Repository “Concrete Compressive Strength 08-02 2007” </a:t>
            </a:r>
            <a:r>
              <a:rPr lang="en-IN" dirty="0">
                <a:hlinkClick r:id="rId4"/>
              </a:rPr>
              <a:t>https://archive.ics.uci.edu/dataset/165/concrete+compressive+strength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6337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13B3D6-C812-5BF3-D20E-EEAF77BFB2E3}"/>
              </a:ext>
            </a:extLst>
          </p:cNvPr>
          <p:cNvSpPr txBox="1"/>
          <p:nvPr/>
        </p:nvSpPr>
        <p:spPr>
          <a:xfrm>
            <a:off x="4355523" y="2921168"/>
            <a:ext cx="34809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b="1" dirty="0">
                <a:solidFill>
                  <a:schemeClr val="accent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05427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1020</Words>
  <Application>Microsoft Office PowerPoint</Application>
  <PresentationFormat>Widescreen</PresentationFormat>
  <Paragraphs>151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MACHINE LEARNING FOR MIX DESIGN OF CONCRETE</vt:lpstr>
      <vt:lpstr>Objectives</vt:lpstr>
      <vt:lpstr>Research gaps and Scope</vt:lpstr>
      <vt:lpstr>Literature Review</vt:lpstr>
      <vt:lpstr>Literature Review</vt:lpstr>
      <vt:lpstr>PowerPoint Presentation</vt:lpstr>
      <vt:lpstr>PowerPoint Presentation</vt:lpstr>
      <vt:lpstr>PowerPoint Presentation</vt:lpstr>
      <vt:lpstr>Methodology</vt:lpstr>
      <vt:lpstr>PowerPoint Presentation</vt:lpstr>
      <vt:lpstr>PowerPoint Presentation</vt:lpstr>
      <vt:lpstr>PowerPoint Presentation</vt:lpstr>
      <vt:lpstr>Results</vt:lpstr>
      <vt:lpstr>PowerPoint Presentation</vt:lpstr>
      <vt:lpstr>PowerPoint Presentation</vt:lpstr>
      <vt:lpstr>PowerPoint Presentation</vt:lpstr>
      <vt:lpstr>PowerPoint Presentation</vt:lpstr>
      <vt:lpstr>Discussion and Conclusion</vt:lpstr>
      <vt:lpstr>Future Work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FOR MIX DESIGN OF CONCRETE</dc:title>
  <dc:creator>Saiteja Rudra</dc:creator>
  <cp:lastModifiedBy>Rudra Sai Teja</cp:lastModifiedBy>
  <cp:revision>25</cp:revision>
  <dcterms:created xsi:type="dcterms:W3CDTF">2024-11-27T09:28:15Z</dcterms:created>
  <dcterms:modified xsi:type="dcterms:W3CDTF">2024-11-28T13:54:59Z</dcterms:modified>
</cp:coreProperties>
</file>