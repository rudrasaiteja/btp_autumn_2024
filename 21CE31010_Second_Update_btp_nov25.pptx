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9" r:id="rId10"/>
    <p:sldId id="270" r:id="rId11"/>
    <p:sldId id="271" r:id="rId12"/>
    <p:sldId id="273" r:id="rId13"/>
    <p:sldId id="274" r:id="rId14"/>
    <p:sldId id="275" r:id="rId15"/>
    <p:sldId id="276" r:id="rId16"/>
    <p:sldId id="264" r:id="rId17"/>
    <p:sldId id="265" r:id="rId18"/>
    <p:sldId id="266"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F92B78-95B1-F9CC-04C7-2E8145ED5D0F}" v="204" dt="2024-11-25T07:16:50.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b="1" dirty="0"/>
              <a:t>MACHINE LEARNING FOR MIX DESIGN OF CONCRETE</a:t>
            </a:r>
            <a:endParaRPr lang="en-US" sz="5400" dirty="0"/>
          </a:p>
        </p:txBody>
      </p:sp>
      <p:sp>
        <p:nvSpPr>
          <p:cNvPr id="3" name="Subtitle 2"/>
          <p:cNvSpPr>
            <a:spLocks noGrp="1"/>
          </p:cNvSpPr>
          <p:nvPr>
            <p:ph type="subTitle" idx="1"/>
          </p:nvPr>
        </p:nvSpPr>
        <p:spPr/>
        <p:txBody>
          <a:bodyPr vert="horz" lIns="91440" tIns="45720" rIns="91440" bIns="45720" rtlCol="0" anchor="t">
            <a:normAutofit/>
          </a:bodyPr>
          <a:lstStyle/>
          <a:p>
            <a:r>
              <a:rPr lang="en-US" i="1" dirty="0">
                <a:latin typeface="Segoe UI"/>
                <a:cs typeface="Segoe UI"/>
              </a:rPr>
              <a:t>Presenter: Rudra Sai Teja(21CE31010)</a:t>
            </a:r>
            <a:endParaRPr lang="en-US" dirty="0">
              <a:latin typeface="Segoe UI"/>
              <a:cs typeface="Segoe UI"/>
            </a:endParaRPr>
          </a:p>
          <a:p>
            <a:r>
              <a:rPr lang="en-US" i="1" dirty="0">
                <a:latin typeface="Segoe UI"/>
                <a:cs typeface="Segoe UI"/>
              </a:rPr>
              <a:t>Supervisor: Prof. Damodar Maity</a:t>
            </a:r>
            <a:endParaRPr lang="en-US" dirty="0">
              <a:latin typeface="Segoe UI"/>
              <a:cs typeface="Segoe UI"/>
            </a:endParaRPr>
          </a:p>
          <a:p>
            <a:r>
              <a:rPr lang="en-US" i="1" dirty="0">
                <a:latin typeface="Segoe UI"/>
                <a:cs typeface="Segoe UI"/>
              </a:rPr>
              <a:t>Department of Civil Engineering, IIT Kharagpur</a:t>
            </a:r>
            <a:endParaRPr lang="en-US" dirty="0">
              <a:latin typeface="Segoe UI"/>
              <a:cs typeface="Segoe UI"/>
            </a:endParaRPr>
          </a:p>
          <a:p>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17FC-7972-61A9-F764-0795B9BD312F}"/>
              </a:ext>
            </a:extLst>
          </p:cNvPr>
          <p:cNvSpPr>
            <a:spLocks noGrp="1"/>
          </p:cNvSpPr>
          <p:nvPr>
            <p:ph type="title"/>
          </p:nvPr>
        </p:nvSpPr>
        <p:spPr/>
        <p:txBody>
          <a:bodyPr/>
          <a:lstStyle/>
          <a:p>
            <a:r>
              <a:rPr lang="en-US" b="1" dirty="0"/>
              <a:t>Objectives</a:t>
            </a:r>
            <a:endParaRPr lang="en-US" dirty="0"/>
          </a:p>
        </p:txBody>
      </p:sp>
      <p:sp>
        <p:nvSpPr>
          <p:cNvPr id="3" name="Content Placeholder 2">
            <a:extLst>
              <a:ext uri="{FF2B5EF4-FFF2-40B4-BE49-F238E27FC236}">
                <a16:creationId xmlns:a16="http://schemas.microsoft.com/office/drawing/2014/main" id="{84ED9FFD-ABA2-B047-0DF9-9828FC67017B}"/>
              </a:ext>
            </a:extLst>
          </p:cNvPr>
          <p:cNvSpPr>
            <a:spLocks noGrp="1"/>
          </p:cNvSpPr>
          <p:nvPr>
            <p:ph idx="1"/>
          </p:nvPr>
        </p:nvSpPr>
        <p:spPr/>
        <p:txBody>
          <a:bodyPr vert="horz" lIns="91440" tIns="45720" rIns="91440" bIns="45720" rtlCol="0" anchor="t">
            <a:normAutofit/>
          </a:bodyPr>
          <a:lstStyle/>
          <a:p>
            <a:r>
              <a:rPr lang="en-US" dirty="0"/>
              <a:t>Review the standard codes on mix design of concrete</a:t>
            </a:r>
          </a:p>
          <a:p>
            <a:r>
              <a:rPr lang="en-US" dirty="0"/>
              <a:t>Gather datasets of concrete composition for various grades of concrete</a:t>
            </a:r>
          </a:p>
          <a:p>
            <a:r>
              <a:rPr lang="en-US" dirty="0"/>
              <a:t>Choosing proper ML algorithms for the optimization and prediction of the ratio of materials for different grades of concrete and vice-versa</a:t>
            </a:r>
          </a:p>
          <a:p>
            <a:r>
              <a:rPr lang="en-US" dirty="0"/>
              <a:t>Create a User Interface(UI) and make these ratios accessible to everyone</a:t>
            </a:r>
          </a:p>
          <a:p>
            <a:endParaRPr lang="en-US" dirty="0"/>
          </a:p>
        </p:txBody>
      </p:sp>
    </p:spTree>
    <p:extLst>
      <p:ext uri="{BB962C8B-B14F-4D97-AF65-F5344CB8AC3E}">
        <p14:creationId xmlns:p14="http://schemas.microsoft.com/office/powerpoint/2010/main" val="74175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4D74-90BE-F16D-F942-E14890B0E4C2}"/>
              </a:ext>
            </a:extLst>
          </p:cNvPr>
          <p:cNvSpPr>
            <a:spLocks noGrp="1"/>
          </p:cNvSpPr>
          <p:nvPr>
            <p:ph type="title"/>
          </p:nvPr>
        </p:nvSpPr>
        <p:spPr/>
        <p:txBody>
          <a:bodyPr/>
          <a:lstStyle/>
          <a:p>
            <a:r>
              <a:rPr lang="en-US" b="1" dirty="0"/>
              <a:t>Scope</a:t>
            </a:r>
            <a:endParaRPr lang="en-US" dirty="0"/>
          </a:p>
        </p:txBody>
      </p:sp>
      <p:sp>
        <p:nvSpPr>
          <p:cNvPr id="3" name="Content Placeholder 2">
            <a:extLst>
              <a:ext uri="{FF2B5EF4-FFF2-40B4-BE49-F238E27FC236}">
                <a16:creationId xmlns:a16="http://schemas.microsoft.com/office/drawing/2014/main" id="{EAB38CDD-28E7-FDF4-32E0-E4C7EA7405CA}"/>
              </a:ext>
            </a:extLst>
          </p:cNvPr>
          <p:cNvSpPr>
            <a:spLocks noGrp="1"/>
          </p:cNvSpPr>
          <p:nvPr>
            <p:ph idx="1"/>
          </p:nvPr>
        </p:nvSpPr>
        <p:spPr/>
        <p:txBody>
          <a:bodyPr vert="horz" lIns="91440" tIns="45720" rIns="91440" bIns="45720" rtlCol="0" anchor="t">
            <a:normAutofit/>
          </a:bodyPr>
          <a:lstStyle/>
          <a:p>
            <a:pPr marL="0" indent="0">
              <a:buNone/>
            </a:pPr>
            <a:r>
              <a:rPr lang="en-US" dirty="0"/>
              <a:t>The scope of ML in mix design of concrete is huge and it covers various stages from planning and material selection to the final performance evaluation. But the key areas are</a:t>
            </a:r>
            <a:endParaRPr lang="en-US"/>
          </a:p>
          <a:p>
            <a:pPr marL="457200" indent="-457200"/>
            <a:r>
              <a:rPr lang="en-US" dirty="0"/>
              <a:t>Prediction model for concrete properties </a:t>
            </a:r>
          </a:p>
          <a:p>
            <a:pPr marL="457200" indent="-457200"/>
            <a:r>
              <a:rPr lang="en-US" dirty="0"/>
              <a:t>Optimization of concrete mix proportions </a:t>
            </a:r>
          </a:p>
          <a:p>
            <a:pPr marL="457200" indent="-457200"/>
            <a:r>
              <a:rPr lang="en-US" dirty="0"/>
              <a:t>Data Analysis and knowledge extraction</a:t>
            </a:r>
          </a:p>
          <a:p>
            <a:pPr marL="457200" indent="-457200"/>
            <a:r>
              <a:rPr lang="en-US" dirty="0"/>
              <a:t>Generalization of this to all types of conditions </a:t>
            </a:r>
          </a:p>
          <a:p>
            <a:pPr marL="457200" indent="-457200"/>
            <a:r>
              <a:rPr lang="en-US" dirty="0"/>
              <a:t>Enhancing durability and estimation of the service life </a:t>
            </a:r>
          </a:p>
          <a:p>
            <a:endParaRPr lang="en-US" dirty="0"/>
          </a:p>
        </p:txBody>
      </p:sp>
    </p:spTree>
    <p:extLst>
      <p:ext uri="{BB962C8B-B14F-4D97-AF65-F5344CB8AC3E}">
        <p14:creationId xmlns:p14="http://schemas.microsoft.com/office/powerpoint/2010/main" val="123996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D2C4E-4356-A472-DEFB-6EB1461E0398}"/>
              </a:ext>
            </a:extLst>
          </p:cNvPr>
          <p:cNvSpPr>
            <a:spLocks noGrp="1"/>
          </p:cNvSpPr>
          <p:nvPr>
            <p:ph type="title"/>
          </p:nvPr>
        </p:nvSpPr>
        <p:spPr/>
        <p:txBody>
          <a:bodyPr/>
          <a:lstStyle/>
          <a:p>
            <a:r>
              <a:rPr lang="en-US" b="1" dirty="0"/>
              <a:t>Review on the literature and Research gaps</a:t>
            </a:r>
            <a:endParaRPr lang="en-US" dirty="0"/>
          </a:p>
        </p:txBody>
      </p:sp>
      <p:sp>
        <p:nvSpPr>
          <p:cNvPr id="3" name="Content Placeholder 2">
            <a:extLst>
              <a:ext uri="{FF2B5EF4-FFF2-40B4-BE49-F238E27FC236}">
                <a16:creationId xmlns:a16="http://schemas.microsoft.com/office/drawing/2014/main" id="{A3103D86-7A7C-B3DC-9F9C-14064D4D3A0D}"/>
              </a:ext>
            </a:extLst>
          </p:cNvPr>
          <p:cNvSpPr>
            <a:spLocks noGrp="1"/>
          </p:cNvSpPr>
          <p:nvPr>
            <p:ph idx="1"/>
          </p:nvPr>
        </p:nvSpPr>
        <p:spPr/>
        <p:txBody>
          <a:bodyPr vert="horz" lIns="91440" tIns="45720" rIns="91440" bIns="45720" rtlCol="0" anchor="t">
            <a:normAutofit/>
          </a:bodyPr>
          <a:lstStyle/>
          <a:p>
            <a:r>
              <a:rPr lang="en-US" dirty="0"/>
              <a:t>Civil engineering had already begun incorporating machine learning and the concrete industry is following the same path</a:t>
            </a:r>
          </a:p>
          <a:p>
            <a:r>
              <a:rPr lang="en-US" dirty="0"/>
              <a:t>We have been using ML algorithms in predicting the compressive strength of the concrete</a:t>
            </a:r>
          </a:p>
          <a:p>
            <a:r>
              <a:rPr lang="en-US" dirty="0"/>
              <a:t>This helps in reducing the wastage of materials and human power, i.e., reducing the cost of estimation</a:t>
            </a:r>
          </a:p>
          <a:p>
            <a:r>
              <a:rPr lang="en-US" dirty="0"/>
              <a:t>It also reduces the carbon footprint and reduces environment impact and move towards sustainability</a:t>
            </a:r>
          </a:p>
          <a:p>
            <a:endParaRPr lang="en-US" dirty="0"/>
          </a:p>
          <a:p>
            <a:endParaRPr lang="en-US" dirty="0"/>
          </a:p>
        </p:txBody>
      </p:sp>
    </p:spTree>
    <p:extLst>
      <p:ext uri="{BB962C8B-B14F-4D97-AF65-F5344CB8AC3E}">
        <p14:creationId xmlns:p14="http://schemas.microsoft.com/office/powerpoint/2010/main" val="1264414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A413-4D1D-59FD-2800-F5D06DDDC736}"/>
              </a:ext>
            </a:extLst>
          </p:cNvPr>
          <p:cNvSpPr>
            <a:spLocks noGrp="1"/>
          </p:cNvSpPr>
          <p:nvPr>
            <p:ph type="title"/>
          </p:nvPr>
        </p:nvSpPr>
        <p:spPr/>
        <p:txBody>
          <a:bodyPr/>
          <a:lstStyle/>
          <a:p>
            <a:r>
              <a:rPr lang="en-US" b="1" dirty="0"/>
              <a:t>Review on the literature and Research gaps</a:t>
            </a:r>
            <a:endParaRPr lang="en-US" dirty="0"/>
          </a:p>
        </p:txBody>
      </p:sp>
      <p:sp>
        <p:nvSpPr>
          <p:cNvPr id="3" name="Content Placeholder 2">
            <a:extLst>
              <a:ext uri="{FF2B5EF4-FFF2-40B4-BE49-F238E27FC236}">
                <a16:creationId xmlns:a16="http://schemas.microsoft.com/office/drawing/2014/main" id="{CD33C613-7498-AC94-2AC1-06124FB23D86}"/>
              </a:ext>
            </a:extLst>
          </p:cNvPr>
          <p:cNvSpPr>
            <a:spLocks noGrp="1"/>
          </p:cNvSpPr>
          <p:nvPr>
            <p:ph idx="1"/>
          </p:nvPr>
        </p:nvSpPr>
        <p:spPr/>
        <p:txBody>
          <a:bodyPr vert="horz" lIns="91440" tIns="45720" rIns="91440" bIns="45720" rtlCol="0" anchor="t">
            <a:normAutofit/>
          </a:bodyPr>
          <a:lstStyle/>
          <a:p>
            <a:r>
              <a:rPr lang="en-US" dirty="0"/>
              <a:t>Concrete mix design comprises of few important components and steps</a:t>
            </a:r>
          </a:p>
          <a:p>
            <a:r>
              <a:rPr lang="en-US" dirty="0"/>
              <a:t>The important ingredients of concrete are cement, fine and coarse aggregates, water</a:t>
            </a:r>
          </a:p>
          <a:p>
            <a:r>
              <a:rPr lang="en-US" dirty="0"/>
              <a:t>Other ingredients include fly ash, blast furnace slag</a:t>
            </a:r>
          </a:p>
          <a:p>
            <a:r>
              <a:rPr lang="en-US" dirty="0"/>
              <a:t>Additives include superplasticizers and water reducing admixtures</a:t>
            </a:r>
          </a:p>
          <a:p>
            <a:r>
              <a:rPr lang="en-US" dirty="0"/>
              <a:t>The selection of ingredient quantities should comply with the IS Code</a:t>
            </a:r>
          </a:p>
          <a:p>
            <a:endParaRPr lang="en-US" dirty="0"/>
          </a:p>
        </p:txBody>
      </p:sp>
    </p:spTree>
    <p:extLst>
      <p:ext uri="{BB962C8B-B14F-4D97-AF65-F5344CB8AC3E}">
        <p14:creationId xmlns:p14="http://schemas.microsoft.com/office/powerpoint/2010/main" val="981991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116D7-D221-BA84-7B43-8914028A049F}"/>
              </a:ext>
            </a:extLst>
          </p:cNvPr>
          <p:cNvSpPr>
            <a:spLocks noGrp="1"/>
          </p:cNvSpPr>
          <p:nvPr>
            <p:ph type="title"/>
          </p:nvPr>
        </p:nvSpPr>
        <p:spPr/>
        <p:txBody>
          <a:bodyPr/>
          <a:lstStyle/>
          <a:p>
            <a:r>
              <a:rPr lang="en-US" b="1" dirty="0"/>
              <a:t>Review on the literature and Research gaps</a:t>
            </a:r>
            <a:endParaRPr lang="en-US" dirty="0"/>
          </a:p>
        </p:txBody>
      </p:sp>
      <p:sp>
        <p:nvSpPr>
          <p:cNvPr id="3" name="Content Placeholder 2">
            <a:extLst>
              <a:ext uri="{FF2B5EF4-FFF2-40B4-BE49-F238E27FC236}">
                <a16:creationId xmlns:a16="http://schemas.microsoft.com/office/drawing/2014/main" id="{89745B76-3820-9252-44E9-676735FB0C28}"/>
              </a:ext>
            </a:extLst>
          </p:cNvPr>
          <p:cNvSpPr>
            <a:spLocks noGrp="1"/>
          </p:cNvSpPr>
          <p:nvPr>
            <p:ph idx="1"/>
          </p:nvPr>
        </p:nvSpPr>
        <p:spPr/>
        <p:txBody>
          <a:bodyPr vert="horz" lIns="91440" tIns="45720" rIns="91440" bIns="45720" rtlCol="0" anchor="t">
            <a:normAutofit/>
          </a:bodyPr>
          <a:lstStyle/>
          <a:p>
            <a:r>
              <a:rPr lang="en-US" dirty="0"/>
              <a:t>The availability of the data and its quality is a major research gap</a:t>
            </a:r>
          </a:p>
          <a:p>
            <a:r>
              <a:rPr lang="en-US" dirty="0"/>
              <a:t>Improving the accuracy of the ML algorithms selected for this purpose</a:t>
            </a:r>
          </a:p>
          <a:p>
            <a:r>
              <a:rPr lang="en-US" dirty="0"/>
              <a:t>Reducing the deviation of the compressive strength on site is another major challenge</a:t>
            </a:r>
          </a:p>
          <a:p>
            <a:r>
              <a:rPr lang="en-US" dirty="0"/>
              <a:t>Large scale validation of these results is to be done before relying on this completely</a:t>
            </a:r>
          </a:p>
          <a:p>
            <a:endParaRPr lang="en-US" dirty="0"/>
          </a:p>
        </p:txBody>
      </p:sp>
    </p:spTree>
    <p:extLst>
      <p:ext uri="{BB962C8B-B14F-4D97-AF65-F5344CB8AC3E}">
        <p14:creationId xmlns:p14="http://schemas.microsoft.com/office/powerpoint/2010/main" val="1196483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2F3A-9EC6-DB90-2A52-108F7D98CA6F}"/>
              </a:ext>
            </a:extLst>
          </p:cNvPr>
          <p:cNvSpPr>
            <a:spLocks noGrp="1"/>
          </p:cNvSpPr>
          <p:nvPr>
            <p:ph type="title"/>
          </p:nvPr>
        </p:nvSpPr>
        <p:spPr/>
        <p:txBody>
          <a:bodyPr/>
          <a:lstStyle/>
          <a:p>
            <a:r>
              <a:rPr lang="en-US" b="1" dirty="0"/>
              <a:t>Works Done </a:t>
            </a:r>
            <a:endParaRPr lang="en-US" dirty="0"/>
          </a:p>
        </p:txBody>
      </p:sp>
      <p:sp>
        <p:nvSpPr>
          <p:cNvPr id="3" name="Content Placeholder 2">
            <a:extLst>
              <a:ext uri="{FF2B5EF4-FFF2-40B4-BE49-F238E27FC236}">
                <a16:creationId xmlns:a16="http://schemas.microsoft.com/office/drawing/2014/main" id="{948175D3-2724-34F3-9A70-F176736C8F41}"/>
              </a:ext>
            </a:extLst>
          </p:cNvPr>
          <p:cNvSpPr>
            <a:spLocks noGrp="1"/>
          </p:cNvSpPr>
          <p:nvPr>
            <p:ph idx="1"/>
          </p:nvPr>
        </p:nvSpPr>
        <p:spPr/>
        <p:txBody>
          <a:bodyPr vert="horz" lIns="91440" tIns="45720" rIns="91440" bIns="45720" rtlCol="0" anchor="t">
            <a:normAutofit/>
          </a:bodyPr>
          <a:lstStyle/>
          <a:p>
            <a:r>
              <a:rPr lang="en-US" dirty="0"/>
              <a:t>Completed the study of standard codes for concrete mix design, including IS 10262:2009 and IS 10262:2019, along with relevant American and British standard codes</a:t>
            </a:r>
          </a:p>
          <a:p>
            <a:r>
              <a:rPr lang="en-US" dirty="0"/>
              <a:t>Collected some of the datasets of material composition of concrete</a:t>
            </a:r>
          </a:p>
          <a:p>
            <a:r>
              <a:rPr lang="en-US" dirty="0"/>
              <a:t>Completed some ML models </a:t>
            </a:r>
          </a:p>
          <a:p>
            <a:r>
              <a:rPr lang="en-US" dirty="0"/>
              <a:t>Completed a detailed report/presentation on Mix Design of Concrete based on IS 10262:2019</a:t>
            </a:r>
          </a:p>
          <a:p>
            <a:endParaRPr lang="en-US" dirty="0"/>
          </a:p>
        </p:txBody>
      </p:sp>
    </p:spTree>
    <p:extLst>
      <p:ext uri="{BB962C8B-B14F-4D97-AF65-F5344CB8AC3E}">
        <p14:creationId xmlns:p14="http://schemas.microsoft.com/office/powerpoint/2010/main" val="3870935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4B751-6558-789C-98E0-0126189E89CD}"/>
              </a:ext>
            </a:extLst>
          </p:cNvPr>
          <p:cNvSpPr>
            <a:spLocks noGrp="1"/>
          </p:cNvSpPr>
          <p:nvPr>
            <p:ph type="title"/>
          </p:nvPr>
        </p:nvSpPr>
        <p:spPr/>
        <p:txBody>
          <a:bodyPr/>
          <a:lstStyle/>
          <a:p>
            <a:r>
              <a:rPr lang="en-US" b="1" dirty="0"/>
              <a:t>Works Done </a:t>
            </a:r>
            <a:endParaRPr lang="en-US" dirty="0"/>
          </a:p>
        </p:txBody>
      </p:sp>
      <p:pic>
        <p:nvPicPr>
          <p:cNvPr id="4" name="Content Placeholder 3" descr="A blue dotted line and black background&#10;&#10;Description automatically generated">
            <a:extLst>
              <a:ext uri="{FF2B5EF4-FFF2-40B4-BE49-F238E27FC236}">
                <a16:creationId xmlns:a16="http://schemas.microsoft.com/office/drawing/2014/main" id="{D416A56B-A46C-4A0A-AB36-F7D4860795C7}"/>
              </a:ext>
            </a:extLst>
          </p:cNvPr>
          <p:cNvPicPr>
            <a:picLocks noGrp="1" noChangeAspect="1"/>
          </p:cNvPicPr>
          <p:nvPr>
            <p:ph idx="1"/>
          </p:nvPr>
        </p:nvPicPr>
        <p:blipFill>
          <a:blip r:embed="rId2"/>
          <a:stretch>
            <a:fillRect/>
          </a:stretch>
        </p:blipFill>
        <p:spPr>
          <a:xfrm>
            <a:off x="0" y="1710528"/>
            <a:ext cx="12204914" cy="3832450"/>
          </a:xfrm>
        </p:spPr>
      </p:pic>
    </p:spTree>
    <p:extLst>
      <p:ext uri="{BB962C8B-B14F-4D97-AF65-F5344CB8AC3E}">
        <p14:creationId xmlns:p14="http://schemas.microsoft.com/office/powerpoint/2010/main" val="194393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3CD1-376B-F755-D319-D4894C1A6E3F}"/>
              </a:ext>
            </a:extLst>
          </p:cNvPr>
          <p:cNvSpPr>
            <a:spLocks noGrp="1"/>
          </p:cNvSpPr>
          <p:nvPr>
            <p:ph type="title"/>
          </p:nvPr>
        </p:nvSpPr>
        <p:spPr/>
        <p:txBody>
          <a:bodyPr/>
          <a:lstStyle/>
          <a:p>
            <a:r>
              <a:rPr lang="en-US" b="1" dirty="0"/>
              <a:t>Works Done </a:t>
            </a:r>
            <a:endParaRPr lang="en-US" dirty="0"/>
          </a:p>
        </p:txBody>
      </p:sp>
      <p:pic>
        <p:nvPicPr>
          <p:cNvPr id="4" name="Content Placeholder 3" descr="A graph with blue dots and black text&#10;&#10;Description automatically generated">
            <a:extLst>
              <a:ext uri="{FF2B5EF4-FFF2-40B4-BE49-F238E27FC236}">
                <a16:creationId xmlns:a16="http://schemas.microsoft.com/office/drawing/2014/main" id="{1228E038-7FBC-5EA3-8A0F-044F931FD47D}"/>
              </a:ext>
            </a:extLst>
          </p:cNvPr>
          <p:cNvPicPr>
            <a:picLocks noGrp="1" noChangeAspect="1"/>
          </p:cNvPicPr>
          <p:nvPr>
            <p:ph idx="1"/>
          </p:nvPr>
        </p:nvPicPr>
        <p:blipFill>
          <a:blip r:embed="rId2"/>
          <a:stretch>
            <a:fillRect/>
          </a:stretch>
        </p:blipFill>
        <p:spPr>
          <a:xfrm>
            <a:off x="839494" y="1564797"/>
            <a:ext cx="10693829" cy="4937568"/>
          </a:xfrm>
        </p:spPr>
      </p:pic>
    </p:spTree>
    <p:extLst>
      <p:ext uri="{BB962C8B-B14F-4D97-AF65-F5344CB8AC3E}">
        <p14:creationId xmlns:p14="http://schemas.microsoft.com/office/powerpoint/2010/main" val="907988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1EEEE-0C8A-C30D-534D-0AD7AFFEC30D}"/>
              </a:ext>
            </a:extLst>
          </p:cNvPr>
          <p:cNvSpPr>
            <a:spLocks noGrp="1"/>
          </p:cNvSpPr>
          <p:nvPr>
            <p:ph type="title"/>
          </p:nvPr>
        </p:nvSpPr>
        <p:spPr/>
        <p:txBody>
          <a:bodyPr/>
          <a:lstStyle/>
          <a:p>
            <a:r>
              <a:rPr lang="en-US" b="1" dirty="0"/>
              <a:t>Works Done </a:t>
            </a:r>
            <a:endParaRPr lang="en-US" dirty="0"/>
          </a:p>
        </p:txBody>
      </p:sp>
      <p:pic>
        <p:nvPicPr>
          <p:cNvPr id="4" name="Content Placeholder 3" descr="A graph with blue dots&#10;&#10;Description automatically generated">
            <a:extLst>
              <a:ext uri="{FF2B5EF4-FFF2-40B4-BE49-F238E27FC236}">
                <a16:creationId xmlns:a16="http://schemas.microsoft.com/office/drawing/2014/main" id="{2E3EDC0D-9758-A38A-E448-7D038E8BB3CA}"/>
              </a:ext>
            </a:extLst>
          </p:cNvPr>
          <p:cNvPicPr>
            <a:picLocks noGrp="1" noChangeAspect="1"/>
          </p:cNvPicPr>
          <p:nvPr>
            <p:ph idx="1"/>
          </p:nvPr>
        </p:nvPicPr>
        <p:blipFill>
          <a:blip r:embed="rId2"/>
          <a:stretch>
            <a:fillRect/>
          </a:stretch>
        </p:blipFill>
        <p:spPr>
          <a:xfrm>
            <a:off x="852407" y="1705850"/>
            <a:ext cx="10500100" cy="4797531"/>
          </a:xfrm>
        </p:spPr>
      </p:pic>
    </p:spTree>
    <p:extLst>
      <p:ext uri="{BB962C8B-B14F-4D97-AF65-F5344CB8AC3E}">
        <p14:creationId xmlns:p14="http://schemas.microsoft.com/office/powerpoint/2010/main" val="2586999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CC488-31C5-DB82-B869-9BE139513DD1}"/>
              </a:ext>
            </a:extLst>
          </p:cNvPr>
          <p:cNvSpPr>
            <a:spLocks noGrp="1"/>
          </p:cNvSpPr>
          <p:nvPr>
            <p:ph type="title"/>
          </p:nvPr>
        </p:nvSpPr>
        <p:spPr/>
        <p:txBody>
          <a:bodyPr/>
          <a:lstStyle/>
          <a:p>
            <a:r>
              <a:rPr lang="en-US" b="1" dirty="0"/>
              <a:t>Works Done </a:t>
            </a:r>
            <a:endParaRPr lang="en-US" dirty="0"/>
          </a:p>
        </p:txBody>
      </p:sp>
      <p:pic>
        <p:nvPicPr>
          <p:cNvPr id="4" name="Content Placeholder 3" descr="A blue line graph on a white background&#10;&#10;Description automatically generated">
            <a:extLst>
              <a:ext uri="{FF2B5EF4-FFF2-40B4-BE49-F238E27FC236}">
                <a16:creationId xmlns:a16="http://schemas.microsoft.com/office/drawing/2014/main" id="{76156D67-5E25-39FF-A6DB-7A9B6F8465BF}"/>
              </a:ext>
            </a:extLst>
          </p:cNvPr>
          <p:cNvPicPr>
            <a:picLocks noGrp="1" noChangeAspect="1"/>
          </p:cNvPicPr>
          <p:nvPr>
            <p:ph idx="1"/>
          </p:nvPr>
        </p:nvPicPr>
        <p:blipFill>
          <a:blip r:embed="rId2"/>
          <a:stretch>
            <a:fillRect/>
          </a:stretch>
        </p:blipFill>
        <p:spPr>
          <a:xfrm>
            <a:off x="2507981" y="1665166"/>
            <a:ext cx="7124377" cy="5059713"/>
          </a:xfrm>
        </p:spPr>
      </p:pic>
    </p:spTree>
    <p:extLst>
      <p:ext uri="{BB962C8B-B14F-4D97-AF65-F5344CB8AC3E}">
        <p14:creationId xmlns:p14="http://schemas.microsoft.com/office/powerpoint/2010/main" val="2416171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39571-5FBD-2F8A-8C67-3745E6C0B32D}"/>
              </a:ext>
            </a:extLst>
          </p:cNvPr>
          <p:cNvSpPr>
            <a:spLocks noGrp="1"/>
          </p:cNvSpPr>
          <p:nvPr>
            <p:ph type="title"/>
          </p:nvPr>
        </p:nvSpPr>
        <p:spPr/>
        <p:txBody>
          <a:bodyPr/>
          <a:lstStyle/>
          <a:p>
            <a:r>
              <a:rPr lang="en-US" b="1" dirty="0"/>
              <a:t>Works Done </a:t>
            </a:r>
            <a:endParaRPr lang="en-US" dirty="0"/>
          </a:p>
        </p:txBody>
      </p:sp>
      <p:pic>
        <p:nvPicPr>
          <p:cNvPr id="4" name="Content Placeholder 3" descr="A screenshot of a graph&#10;&#10;Description automatically generated">
            <a:extLst>
              <a:ext uri="{FF2B5EF4-FFF2-40B4-BE49-F238E27FC236}">
                <a16:creationId xmlns:a16="http://schemas.microsoft.com/office/drawing/2014/main" id="{737EC101-952E-516A-0145-8339BC6B34A7}"/>
              </a:ext>
            </a:extLst>
          </p:cNvPr>
          <p:cNvPicPr>
            <a:picLocks noGrp="1" noChangeAspect="1"/>
          </p:cNvPicPr>
          <p:nvPr>
            <p:ph idx="1"/>
          </p:nvPr>
        </p:nvPicPr>
        <p:blipFill>
          <a:blip r:embed="rId2"/>
          <a:stretch>
            <a:fillRect/>
          </a:stretch>
        </p:blipFill>
        <p:spPr>
          <a:xfrm>
            <a:off x="1575662" y="1691239"/>
            <a:ext cx="8562812" cy="5149634"/>
          </a:xfrm>
        </p:spPr>
      </p:pic>
    </p:spTree>
    <p:extLst>
      <p:ext uri="{BB962C8B-B14F-4D97-AF65-F5344CB8AC3E}">
        <p14:creationId xmlns:p14="http://schemas.microsoft.com/office/powerpoint/2010/main" val="1607879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39571-5FBD-2F8A-8C67-3745E6C0B32D}"/>
              </a:ext>
            </a:extLst>
          </p:cNvPr>
          <p:cNvSpPr>
            <a:spLocks noGrp="1"/>
          </p:cNvSpPr>
          <p:nvPr>
            <p:ph type="title"/>
          </p:nvPr>
        </p:nvSpPr>
        <p:spPr/>
        <p:txBody>
          <a:bodyPr/>
          <a:lstStyle/>
          <a:p>
            <a:r>
              <a:rPr lang="en-US" b="1" dirty="0"/>
              <a:t>Works Done </a:t>
            </a:r>
            <a:endParaRPr lang="en-US" dirty="0"/>
          </a:p>
        </p:txBody>
      </p:sp>
      <p:pic>
        <p:nvPicPr>
          <p:cNvPr id="4" name="Content Placeholder 3" descr="A screenshot of a computer&#10;&#10;Description automatically generated">
            <a:extLst>
              <a:ext uri="{FF2B5EF4-FFF2-40B4-BE49-F238E27FC236}">
                <a16:creationId xmlns:a16="http://schemas.microsoft.com/office/drawing/2014/main" id="{B11C95DF-73D3-6567-6520-9072D07A4EB0}"/>
              </a:ext>
            </a:extLst>
          </p:cNvPr>
          <p:cNvPicPr>
            <a:picLocks noGrp="1" noChangeAspect="1"/>
          </p:cNvPicPr>
          <p:nvPr>
            <p:ph idx="1"/>
          </p:nvPr>
        </p:nvPicPr>
        <p:blipFill>
          <a:blip r:embed="rId2"/>
          <a:stretch>
            <a:fillRect/>
          </a:stretch>
        </p:blipFill>
        <p:spPr>
          <a:xfrm>
            <a:off x="2573445" y="1474182"/>
            <a:ext cx="7419651" cy="5390019"/>
          </a:xfrm>
        </p:spPr>
      </p:pic>
    </p:spTree>
    <p:extLst>
      <p:ext uri="{BB962C8B-B14F-4D97-AF65-F5344CB8AC3E}">
        <p14:creationId xmlns:p14="http://schemas.microsoft.com/office/powerpoint/2010/main" val="1360699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39571-5FBD-2F8A-8C67-3745E6C0B32D}"/>
              </a:ext>
            </a:extLst>
          </p:cNvPr>
          <p:cNvSpPr>
            <a:spLocks noGrp="1"/>
          </p:cNvSpPr>
          <p:nvPr>
            <p:ph type="title"/>
          </p:nvPr>
        </p:nvSpPr>
        <p:spPr/>
        <p:txBody>
          <a:bodyPr/>
          <a:lstStyle/>
          <a:p>
            <a:r>
              <a:rPr lang="en-US" b="1" dirty="0"/>
              <a:t>Works Done </a:t>
            </a:r>
            <a:endParaRPr lang="en-US" dirty="0"/>
          </a:p>
        </p:txBody>
      </p:sp>
      <p:pic>
        <p:nvPicPr>
          <p:cNvPr id="4" name="Content Placeholder 3" descr="A graph of blue and orange bars&#10;&#10;Description automatically generated">
            <a:extLst>
              <a:ext uri="{FF2B5EF4-FFF2-40B4-BE49-F238E27FC236}">
                <a16:creationId xmlns:a16="http://schemas.microsoft.com/office/drawing/2014/main" id="{9365BC74-E59B-99EF-B182-E6E31988B052}"/>
              </a:ext>
            </a:extLst>
          </p:cNvPr>
          <p:cNvPicPr>
            <a:picLocks noGrp="1" noChangeAspect="1"/>
          </p:cNvPicPr>
          <p:nvPr>
            <p:ph idx="1"/>
          </p:nvPr>
        </p:nvPicPr>
        <p:blipFill>
          <a:blip r:embed="rId2"/>
          <a:stretch>
            <a:fillRect/>
          </a:stretch>
        </p:blipFill>
        <p:spPr>
          <a:xfrm>
            <a:off x="1511085" y="1510426"/>
            <a:ext cx="9531457" cy="5356279"/>
          </a:xfrm>
        </p:spPr>
      </p:pic>
    </p:spTree>
    <p:extLst>
      <p:ext uri="{BB962C8B-B14F-4D97-AF65-F5344CB8AC3E}">
        <p14:creationId xmlns:p14="http://schemas.microsoft.com/office/powerpoint/2010/main" val="1516639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39571-5FBD-2F8A-8C67-3745E6C0B32D}"/>
              </a:ext>
            </a:extLst>
          </p:cNvPr>
          <p:cNvSpPr>
            <a:spLocks noGrp="1"/>
          </p:cNvSpPr>
          <p:nvPr>
            <p:ph type="title"/>
          </p:nvPr>
        </p:nvSpPr>
        <p:spPr/>
        <p:txBody>
          <a:bodyPr/>
          <a:lstStyle/>
          <a:p>
            <a:r>
              <a:rPr lang="en-US" b="1" dirty="0"/>
              <a:t>Works Done </a:t>
            </a:r>
            <a:endParaRPr lang="en-US" dirty="0"/>
          </a:p>
        </p:txBody>
      </p:sp>
      <p:pic>
        <p:nvPicPr>
          <p:cNvPr id="4" name="Content Placeholder 3">
            <a:extLst>
              <a:ext uri="{FF2B5EF4-FFF2-40B4-BE49-F238E27FC236}">
                <a16:creationId xmlns:a16="http://schemas.microsoft.com/office/drawing/2014/main" id="{2C219224-1882-8081-EC24-535B260D3F4B}"/>
              </a:ext>
            </a:extLst>
          </p:cNvPr>
          <p:cNvPicPr>
            <a:picLocks noGrp="1" noChangeAspect="1"/>
          </p:cNvPicPr>
          <p:nvPr>
            <p:ph idx="1"/>
          </p:nvPr>
        </p:nvPicPr>
        <p:blipFill>
          <a:blip r:embed="rId2"/>
          <a:stretch>
            <a:fillRect/>
          </a:stretch>
        </p:blipFill>
        <p:spPr>
          <a:xfrm>
            <a:off x="1869403" y="1461267"/>
            <a:ext cx="8220718" cy="4873409"/>
          </a:xfrm>
        </p:spPr>
      </p:pic>
    </p:spTree>
    <p:extLst>
      <p:ext uri="{BB962C8B-B14F-4D97-AF65-F5344CB8AC3E}">
        <p14:creationId xmlns:p14="http://schemas.microsoft.com/office/powerpoint/2010/main" val="1050576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7C3B-7CEA-6145-416A-FDD8D3A80DBE}"/>
              </a:ext>
            </a:extLst>
          </p:cNvPr>
          <p:cNvSpPr>
            <a:spLocks noGrp="1"/>
          </p:cNvSpPr>
          <p:nvPr>
            <p:ph type="title"/>
          </p:nvPr>
        </p:nvSpPr>
        <p:spPr/>
        <p:txBody>
          <a:bodyPr/>
          <a:lstStyle/>
          <a:p>
            <a:r>
              <a:rPr lang="en-US" b="1" dirty="0"/>
              <a:t>Works to Complete</a:t>
            </a:r>
            <a:endParaRPr lang="en-US" dirty="0"/>
          </a:p>
        </p:txBody>
      </p:sp>
      <p:sp>
        <p:nvSpPr>
          <p:cNvPr id="3" name="Content Placeholder 2">
            <a:extLst>
              <a:ext uri="{FF2B5EF4-FFF2-40B4-BE49-F238E27FC236}">
                <a16:creationId xmlns:a16="http://schemas.microsoft.com/office/drawing/2014/main" id="{ADA7A493-6D05-E882-AD4C-ED55D200ADEA}"/>
              </a:ext>
            </a:extLst>
          </p:cNvPr>
          <p:cNvSpPr>
            <a:spLocks noGrp="1"/>
          </p:cNvSpPr>
          <p:nvPr>
            <p:ph idx="1"/>
          </p:nvPr>
        </p:nvSpPr>
        <p:spPr/>
        <p:txBody>
          <a:bodyPr vert="horz" lIns="91440" tIns="45720" rIns="91440" bIns="45720" rtlCol="0" anchor="t">
            <a:normAutofit/>
          </a:bodyPr>
          <a:lstStyle/>
          <a:p>
            <a:r>
              <a:rPr lang="en-US" dirty="0"/>
              <a:t>Should make a good ML model to predict the concrete mix proportions by giving the strength as input to the model</a:t>
            </a:r>
          </a:p>
          <a:p>
            <a:r>
              <a:rPr lang="en-US" dirty="0"/>
              <a:t>Should create a User Interface(UI) and put all these predicted values</a:t>
            </a:r>
          </a:p>
          <a:p>
            <a:endParaRPr lang="en-US" dirty="0"/>
          </a:p>
        </p:txBody>
      </p:sp>
    </p:spTree>
    <p:extLst>
      <p:ext uri="{BB962C8B-B14F-4D97-AF65-F5344CB8AC3E}">
        <p14:creationId xmlns:p14="http://schemas.microsoft.com/office/powerpoint/2010/main" val="855177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7C3B-7CEA-6145-416A-FDD8D3A80DBE}"/>
              </a:ext>
            </a:extLst>
          </p:cNvPr>
          <p:cNvSpPr>
            <a:spLocks noGrp="1"/>
          </p:cNvSpPr>
          <p:nvPr>
            <p:ph type="title"/>
          </p:nvPr>
        </p:nvSpPr>
        <p:spPr/>
        <p:txBody>
          <a:bodyPr/>
          <a:lstStyle/>
          <a:p>
            <a:r>
              <a:rPr lang="en-US" b="1" dirty="0"/>
              <a:t>Constraints</a:t>
            </a:r>
            <a:endParaRPr lang="en-US" dirty="0"/>
          </a:p>
        </p:txBody>
      </p:sp>
      <p:sp>
        <p:nvSpPr>
          <p:cNvPr id="3" name="Content Placeholder 2">
            <a:extLst>
              <a:ext uri="{FF2B5EF4-FFF2-40B4-BE49-F238E27FC236}">
                <a16:creationId xmlns:a16="http://schemas.microsoft.com/office/drawing/2014/main" id="{ADA7A493-6D05-E882-AD4C-ED55D200ADEA}"/>
              </a:ext>
            </a:extLst>
          </p:cNvPr>
          <p:cNvSpPr>
            <a:spLocks noGrp="1"/>
          </p:cNvSpPr>
          <p:nvPr>
            <p:ph idx="1"/>
          </p:nvPr>
        </p:nvSpPr>
        <p:spPr/>
        <p:txBody>
          <a:bodyPr vert="horz" lIns="91440" tIns="45720" rIns="91440" bIns="45720" rtlCol="0" anchor="t">
            <a:normAutofit/>
          </a:bodyPr>
          <a:lstStyle/>
          <a:p>
            <a:r>
              <a:rPr lang="en-US" dirty="0"/>
              <a:t>Since there are many variables i.e., 8 features it is difficult to get them as output by giving 1 input i.e., design strength of concrete</a:t>
            </a:r>
          </a:p>
          <a:p>
            <a:r>
              <a:rPr lang="en-US" dirty="0"/>
              <a:t>Due to this the outputs given by the model i.e., concrete mix ratio is very much staggered and far away from prescribed ratios of IS Code</a:t>
            </a:r>
          </a:p>
          <a:p>
            <a:endParaRPr lang="en-US" dirty="0"/>
          </a:p>
        </p:txBody>
      </p:sp>
    </p:spTree>
    <p:extLst>
      <p:ext uri="{BB962C8B-B14F-4D97-AF65-F5344CB8AC3E}">
        <p14:creationId xmlns:p14="http://schemas.microsoft.com/office/powerpoint/2010/main" val="1254126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7C3B-7CEA-6145-416A-FDD8D3A80DBE}"/>
              </a:ext>
            </a:extLst>
          </p:cNvPr>
          <p:cNvSpPr>
            <a:spLocks noGrp="1"/>
          </p:cNvSpPr>
          <p:nvPr>
            <p:ph type="title"/>
          </p:nvPr>
        </p:nvSpPr>
        <p:spPr/>
        <p:txBody>
          <a:bodyPr/>
          <a:lstStyle/>
          <a:p>
            <a:r>
              <a:rPr lang="en-US" b="1" dirty="0"/>
              <a:t>References</a:t>
            </a:r>
            <a:endParaRPr lang="en-US" dirty="0"/>
          </a:p>
        </p:txBody>
      </p:sp>
      <p:sp>
        <p:nvSpPr>
          <p:cNvPr id="3" name="Content Placeholder 2">
            <a:extLst>
              <a:ext uri="{FF2B5EF4-FFF2-40B4-BE49-F238E27FC236}">
                <a16:creationId xmlns:a16="http://schemas.microsoft.com/office/drawing/2014/main" id="{ADA7A493-6D05-E882-AD4C-ED55D200ADEA}"/>
              </a:ext>
            </a:extLst>
          </p:cNvPr>
          <p:cNvSpPr>
            <a:spLocks noGrp="1"/>
          </p:cNvSpPr>
          <p:nvPr>
            <p:ph idx="1"/>
          </p:nvPr>
        </p:nvSpPr>
        <p:spPr/>
        <p:txBody>
          <a:bodyPr vert="horz" lIns="91440" tIns="45720" rIns="91440" bIns="45720" rtlCol="0" anchor="t">
            <a:normAutofit/>
          </a:bodyPr>
          <a:lstStyle/>
          <a:p>
            <a:r>
              <a:rPr lang="en-US" dirty="0"/>
              <a:t>IS 10262:2009 and IS 10262:2019</a:t>
            </a:r>
          </a:p>
          <a:p>
            <a:r>
              <a:rPr lang="en-US" dirty="0"/>
              <a:t>Machine Learning Techniques in Concrete Mix Design Patryk Ziolkowski and Maciej </a:t>
            </a:r>
            <a:r>
              <a:rPr lang="en-US" dirty="0" err="1"/>
              <a:t>Niedostatkiewicz</a:t>
            </a:r>
            <a:endParaRPr lang="en-US" dirty="0"/>
          </a:p>
          <a:p>
            <a:r>
              <a:rPr lang="en-US" dirty="0"/>
              <a:t>Concrete Mix Design by IS, ACI and BS Methods: A Comparative Analysis Ashish </a:t>
            </a:r>
            <a:r>
              <a:rPr lang="en-US" dirty="0" err="1"/>
              <a:t>Chhachhia</a:t>
            </a:r>
          </a:p>
          <a:p>
            <a:endParaRPr lang="en-US" dirty="0"/>
          </a:p>
        </p:txBody>
      </p:sp>
    </p:spTree>
    <p:extLst>
      <p:ext uri="{BB962C8B-B14F-4D97-AF65-F5344CB8AC3E}">
        <p14:creationId xmlns:p14="http://schemas.microsoft.com/office/powerpoint/2010/main" val="142012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08C1D-7663-8D8D-4DBE-9BCEC9963C45}"/>
              </a:ext>
            </a:extLst>
          </p:cNvPr>
          <p:cNvSpPr>
            <a:spLocks noGrp="1"/>
          </p:cNvSpPr>
          <p:nvPr>
            <p:ph type="ctrTitle"/>
          </p:nvPr>
        </p:nvSpPr>
        <p:spPr/>
        <p:txBody>
          <a:bodyPr/>
          <a:lstStyle/>
          <a:p>
            <a:r>
              <a:rPr lang="en-US" b="1" dirty="0"/>
              <a:t>Thank You</a:t>
            </a:r>
            <a:endParaRPr lang="en-US" dirty="0"/>
          </a:p>
        </p:txBody>
      </p:sp>
      <p:sp>
        <p:nvSpPr>
          <p:cNvPr id="3" name="Subtitle 2">
            <a:extLst>
              <a:ext uri="{FF2B5EF4-FFF2-40B4-BE49-F238E27FC236}">
                <a16:creationId xmlns:a16="http://schemas.microsoft.com/office/drawing/2014/main" id="{01FC1FCD-6A0C-4763-FD7D-30542C67B53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98770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MACHINE LEARNING FOR MIX DESIGN OF CONCRETE</vt:lpstr>
      <vt:lpstr>Objectives</vt:lpstr>
      <vt:lpstr>Scope</vt:lpstr>
      <vt:lpstr>Review on the literature and Research gaps</vt:lpstr>
      <vt:lpstr>Review on the literature and Research gaps</vt:lpstr>
      <vt:lpstr>Review on the literature and Research gaps</vt:lpstr>
      <vt:lpstr>Works Done </vt:lpstr>
      <vt:lpstr>Works Done </vt:lpstr>
      <vt:lpstr>Works Done </vt:lpstr>
      <vt:lpstr>Works Done </vt:lpstr>
      <vt:lpstr>Works Done </vt:lpstr>
      <vt:lpstr>Works Done </vt:lpstr>
      <vt:lpstr>Works Done </vt:lpstr>
      <vt:lpstr>Works Done </vt:lpstr>
      <vt:lpstr>Works Done </vt:lpstr>
      <vt:lpstr>Works to Complete</vt:lpstr>
      <vt:lpstr>Constraints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117</cp:revision>
  <dcterms:created xsi:type="dcterms:W3CDTF">2024-11-23T11:49:37Z</dcterms:created>
  <dcterms:modified xsi:type="dcterms:W3CDTF">2024-11-25T07:17:22Z</dcterms:modified>
</cp:coreProperties>
</file>